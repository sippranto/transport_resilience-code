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462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members of the committee. Thank you for the opportunity to present my PhD research proposal. My research addresses how urban flooding disrupts road transport systems and, in turn, changes how people travel. The proposal develops an integrated framework that combines GIS-based infrastructure analysis with machine learning to assess and predict transport resilience, both from historical flood events and under future flood scenarios. Over the next few minutes I will walk you through the background, the research gap, the overall framework, the datasets, and the analytical pipeline, before closing with the expected contributions of this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scene. Heavy rainfall leads to urban flooding, which disrupts the road network. This disruption reduces accessibility — people's ability to reach jobs, hospitals, schools, and other destinations. In response, travellers change their behaviour: they switch travel mode, cancel trips, or take detours. Cumulatively, this erodes the resilience of the transport system. On the right, I want to stress the key motivating idea: most existing resilience studies stop at the infrastructure or accessibility level. They rarely account for how travellers actually respond, even though that response is what ultimately determines whether a city's transport system is resilient or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positions the study. On the left, I compare existing literature with the proposed research across six dimensions. Most existing studies address infrastructure, accessibility, or historical analysis in isolation. Very few incorporate traveller behaviour, machine learning, or future prediction — and none, to my knowledge, combine all six in a single framework. That is precisely the gap this research fills. On the right, the overall objective is to build and validate a combined GIS and machine learning framework for assessing and predicting transport resilience to flooding. I have broken this into six specific objectives, moving from historical infrastructure assessment, through behavioural adaptation and index construction, to machine learning prediction and, ultimately, decision support.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slide of the proposal - the overall research framework. On the left, the historical branch begins with a historical flood event, combined with road network, flood raster, and travel survey data, processed through GIS. This yields four sequential indicators: Infrastructure Functionality, Accessibility Index, Behavioural Adaptation, and the Historical Transport Resilience Index, which populates a historical database. That database trains the machine learning component, shown at the top of the right column, which is the pivot of the framework. The right column then applies this trained model to a future flood scenario, producing predicted behaviour, predicted behavioural adaptation, and ultimately a future TRI. The framework closes with decision support, translating both historical and predicted resilience into actionable planning guidance. The colour coding - IF, AI, BA, and TRI - is kept consistent throughout the rest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draws on three groups of data, all already available or collectable for the study area. The first group is geospatial: the road network and flood raster form the core inputs for infrastructure functionality, alongside administrative boundaries and public transport layers - bus stops and metro stations - used for accessibility analysis. The second group is transport data: a travel survey capturing trip-level behaviour, and traffic volume counts. The third group is socioeconomic and weather data, including household income, occupation, and weather records, which help explain and contextualise behavioural adaptation. Each dataset is shown with its expected file format - shapefile, GeoTIFF, or CSV - confirming that the framework is built on standard, accessible data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details the historical assessment pipeline - the engine behind the historical branch of the framework. First, the road network and flood raster are spatially overlaid to determine road status under flood conditions. This produces the Infrastructure Functionality score. Combining IF with network analysis produces the Accessibility Index. Observed travel behaviour is then converted into a Behavioural Adaptation score. Finally, IF, AI, and BA are combined into a single composite Historical Transport Resilience Index. For each stage, I show the input, the output, and the core calculation, so the committee can see exactly how one indicator feeds into the next - this traceability is what makes the historical TRI database, used later for machine learning, scientifically defensible.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 learning framework builds directly on the historical TRI database developed in the previous stage. Records are consolidated into a master dataset, engineered into predictive features, and split into training and test sets. I then train four separate prediction models, one for each behavioural response: mode change, trip cancellation, route deviation, and travel delay. Keeping these as four distinct models, rather than one combined model, allows each behaviour type to be predicted and validated independently, which is methodologically more robust. The outputs are combined into predicted traveller behaviour and, from that, predicted Behavioural Adaptation - the same BA indicator introduced earlier, but now generated by the trained model rather than observed data. This predicted BA is what feeds into the future TRI calculation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projects the framework forward. A future flood scenario generates a future flood raster, from which future Infrastructure Functionality and future Accessibility Index are derived, exactly as in the historical branch. These are combined with current traveller data and passed through the four trained prediction models introduced previously. The models output predicted traveller behaviour and, from that, predicted Behavioural Adaptation. Together with future IF and AI, this produces the future Transport Resilience Index. Finally, the historical and future TRI are compared directly, allowing the framework to quantify how resilience is expected to change under future flood conditions - this comparison is the analytical basis for the decision support component.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makes four core contributions. First, it integrates GIS-based infrastructure analysis with machine learning in a single reproducible framework — most existing work treats these separately. Second, it introduces Behavioural Adaptation as a resilience indicator in its own right, rather than treating traveller response as a side effect. Third, it links historical assessment directly with future prediction, so resilience is evaluated across time, not just at a single point. Fourth, it produces decision support specifically for flood-resilient transport planning. In practical terms, this translates into resilience maps, a ranking of wards or zones by vulnerability, traveller behaviour predictions, and scenario-based future analysis — outputs that planners and transport authorities can act on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research moves from historical resilience assessment, through a machine learning stage, to future prediction, producing a measure of transport resilience that directly informs decision support. In terms of impact, the framework offers a practical basis for flood-resilient transport planning and a stronger evidence base for infrastructure investment decisions. The work is well positioned for publication in transport, GIS, and disaster-risk journals and conferences. Looking ahead, the framework can be extended with real-time flood monitoring data and adapted to other hazards beyond flooding, moving toward a more general multi-hazard resilience model. Thank you very much for your attention — I welcome your questions and feedback.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5.png"/><Relationship Id="rId5" Type="http://schemas.openxmlformats.org/officeDocument/2006/relationships/image" Target="../media/image2.png"/><Relationship Id="rId10"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13.png"/><Relationship Id="rId1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38160" y="4686300"/>
            <a:ext cx="4050792" cy="2148840"/>
          </a:xfrm>
          <a:prstGeom prst="rect">
            <a:avLst/>
          </a:prstGeom>
          <a:solidFill>
            <a:srgbClr val="EAF1FA"/>
          </a:solidFill>
          <a:ln/>
        </p:spPr>
      </p:sp>
      <p:sp>
        <p:nvSpPr>
          <p:cNvPr id="3" name="Shape 1"/>
          <p:cNvSpPr/>
          <p:nvPr/>
        </p:nvSpPr>
        <p:spPr>
          <a:xfrm>
            <a:off x="8732520" y="5446395"/>
            <a:ext cx="3291840" cy="1188720"/>
          </a:xfrm>
          <a:prstGeom prst="ellipse">
            <a:avLst/>
          </a:prstGeom>
          <a:solidFill>
            <a:srgbClr val="5FA8D3">
              <a:alpha val="22000"/>
            </a:srgbClr>
          </a:solidFill>
          <a:ln/>
        </p:spPr>
      </p:sp>
      <p:sp>
        <p:nvSpPr>
          <p:cNvPr id="4" name="Shape 2"/>
          <p:cNvSpPr/>
          <p:nvPr/>
        </p:nvSpPr>
        <p:spPr>
          <a:xfrm>
            <a:off x="9189720" y="5632704"/>
            <a:ext cx="2377440" cy="914400"/>
          </a:xfrm>
          <a:prstGeom prst="ellipse">
            <a:avLst/>
          </a:prstGeom>
          <a:solidFill>
            <a:srgbClr val="2E86C1">
              <a:alpha val="18000"/>
            </a:srgbClr>
          </a:solidFill>
          <a:ln/>
        </p:spPr>
      </p:sp>
      <p:pic>
        <p:nvPicPr>
          <p:cNvPr id="5" name="Image 0" descr="/home/claude/tr_pptx/icons/road_navy.png"/>
          <p:cNvPicPr>
            <a:picLocks noChangeAspect="1"/>
          </p:cNvPicPr>
          <p:nvPr/>
        </p:nvPicPr>
        <p:blipFill>
          <a:blip r:embed="rId3"/>
          <a:stretch>
            <a:fillRect/>
          </a:stretch>
        </p:blipFill>
        <p:spPr>
          <a:xfrm>
            <a:off x="9875520" y="4754880"/>
            <a:ext cx="1005840" cy="1005840"/>
          </a:xfrm>
          <a:prstGeom prst="rect">
            <a:avLst/>
          </a:prstGeom>
        </p:spPr>
      </p:pic>
      <p:pic>
        <p:nvPicPr>
          <p:cNvPr id="6" name="Image 1" descr="/home/claude/tr_pptx/icons/water_blue.png"/>
          <p:cNvPicPr>
            <a:picLocks noChangeAspect="1"/>
          </p:cNvPicPr>
          <p:nvPr/>
        </p:nvPicPr>
        <p:blipFill>
          <a:blip r:embed="rId4">
            <a:alphaModFix amt="85000"/>
          </a:blip>
          <a:stretch>
            <a:fillRect/>
          </a:stretch>
        </p:blipFill>
        <p:spPr>
          <a:xfrm>
            <a:off x="10094976" y="5806440"/>
            <a:ext cx="566928" cy="566928"/>
          </a:xfrm>
          <a:prstGeom prst="rect">
            <a:avLst/>
          </a:prstGeom>
        </p:spPr>
      </p:pic>
      <p:sp>
        <p:nvSpPr>
          <p:cNvPr id="9" name="Text 5"/>
          <p:cNvSpPr/>
          <p:nvPr/>
        </p:nvSpPr>
        <p:spPr>
          <a:xfrm>
            <a:off x="502920" y="2148840"/>
            <a:ext cx="8778240" cy="1371600"/>
          </a:xfrm>
          <a:prstGeom prst="rect">
            <a:avLst/>
          </a:prstGeom>
          <a:noFill/>
          <a:ln/>
        </p:spPr>
        <p:txBody>
          <a:bodyPr wrap="square" lIns="0" tIns="0" rIns="0" bIns="0" rtlCol="0" anchor="ctr"/>
          <a:lstStyle/>
          <a:p>
            <a:pPr marL="0" indent="0">
              <a:lnSpc>
                <a:spcPct val="108000"/>
              </a:lnSpc>
              <a:buNone/>
            </a:pPr>
            <a:r>
              <a:rPr lang="en-US" sz="3300" b="1" dirty="0">
                <a:solidFill>
                  <a:srgbClr val="1B2A4A"/>
                </a:solidFill>
                <a:latin typeface="Cambria" pitchFamily="34" charset="0"/>
                <a:ea typeface="Cambria" pitchFamily="34" charset="-122"/>
                <a:cs typeface="Cambria" pitchFamily="34" charset="-120"/>
              </a:rPr>
              <a:t>Assessing and Predicting Urban Transport Resilience to Flooding</a:t>
            </a:r>
            <a:endParaRPr lang="en-US" sz="3300" dirty="0"/>
          </a:p>
        </p:txBody>
      </p:sp>
      <p:sp>
        <p:nvSpPr>
          <p:cNvPr id="10" name="Text 6"/>
          <p:cNvSpPr/>
          <p:nvPr/>
        </p:nvSpPr>
        <p:spPr>
          <a:xfrm>
            <a:off x="502920" y="3611880"/>
            <a:ext cx="7955280" cy="777240"/>
          </a:xfrm>
          <a:prstGeom prst="rect">
            <a:avLst/>
          </a:prstGeom>
          <a:noFill/>
          <a:ln/>
        </p:spPr>
        <p:txBody>
          <a:bodyPr wrap="square" lIns="0" tIns="0" rIns="0" bIns="0" rtlCol="0" anchor="ctr"/>
          <a:lstStyle/>
          <a:p>
            <a:pPr marL="0" indent="0">
              <a:lnSpc>
                <a:spcPct val="120000"/>
              </a:lnSpc>
              <a:buNone/>
            </a:pPr>
            <a:r>
              <a:rPr lang="en-US" sz="1500" i="1" dirty="0">
                <a:solidFill>
                  <a:srgbClr val="5B6675"/>
                </a:solidFill>
                <a:latin typeface="Calibri" pitchFamily="34" charset="0"/>
                <a:ea typeface="Calibri" pitchFamily="34" charset="-122"/>
                <a:cs typeface="Calibri" pitchFamily="34" charset="-120"/>
              </a:rPr>
              <a:t>An Integrated GIS and Machine Learning Framework for Infrastructure Functionality, Accessibility, and Behavioural Adaptation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MOTIVATION</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Research Background</a:t>
            </a:r>
            <a:endParaRPr lang="en-US" sz="2800" dirty="0"/>
          </a:p>
        </p:txBody>
      </p:sp>
      <p:sp>
        <p:nvSpPr>
          <p:cNvPr id="4" name="Shape 2"/>
          <p:cNvSpPr/>
          <p:nvPr/>
        </p:nvSpPr>
        <p:spPr>
          <a:xfrm>
            <a:off x="502920" y="1417320"/>
            <a:ext cx="5669280" cy="749808"/>
          </a:xfrm>
          <a:prstGeom prst="roundRect">
            <a:avLst>
              <a:gd name="adj" fmla="val 10976"/>
            </a:avLst>
          </a:prstGeom>
          <a:solidFill>
            <a:srgbClr val="F4F8FC"/>
          </a:solidFill>
          <a:ln/>
          <a:effectLst>
            <a:outerShdw blurRad="76200" dist="25400" dir="5400000" algn="bl" rotWithShape="0">
              <a:srgbClr val="9AA7B5">
                <a:alpha val="28000"/>
              </a:srgbClr>
            </a:outerShdw>
          </a:effectLst>
        </p:spPr>
      </p:sp>
      <p:sp>
        <p:nvSpPr>
          <p:cNvPr id="5" name="Shape 3"/>
          <p:cNvSpPr/>
          <p:nvPr/>
        </p:nvSpPr>
        <p:spPr>
          <a:xfrm>
            <a:off x="649224" y="1563624"/>
            <a:ext cx="457200" cy="457200"/>
          </a:xfrm>
          <a:prstGeom prst="ellipse">
            <a:avLst/>
          </a:prstGeom>
          <a:solidFill>
            <a:srgbClr val="FFFFFF"/>
          </a:solidFill>
          <a:ln/>
        </p:spPr>
      </p:sp>
      <p:pic>
        <p:nvPicPr>
          <p:cNvPr id="6" name="Image 0" descr="/home/claude/tr_pptx/icons/weather_grey.png"/>
          <p:cNvPicPr>
            <a:picLocks noChangeAspect="1"/>
          </p:cNvPicPr>
          <p:nvPr/>
        </p:nvPicPr>
        <p:blipFill>
          <a:blip r:embed="rId3"/>
          <a:stretch>
            <a:fillRect/>
          </a:stretch>
        </p:blipFill>
        <p:spPr>
          <a:xfrm>
            <a:off x="740664" y="1655064"/>
            <a:ext cx="274320" cy="274320"/>
          </a:xfrm>
          <a:prstGeom prst="rect">
            <a:avLst/>
          </a:prstGeom>
        </p:spPr>
      </p:pic>
      <p:sp>
        <p:nvSpPr>
          <p:cNvPr id="7" name="Text 4"/>
          <p:cNvSpPr/>
          <p:nvPr/>
        </p:nvSpPr>
        <p:spPr>
          <a:xfrm>
            <a:off x="1280160" y="1417320"/>
            <a:ext cx="4754880" cy="7498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Heavy Rain</a:t>
            </a:r>
            <a:endParaRPr lang="en-US" sz="1500" dirty="0"/>
          </a:p>
        </p:txBody>
      </p:sp>
      <p:sp>
        <p:nvSpPr>
          <p:cNvPr id="8" name="Shape 5"/>
          <p:cNvSpPr/>
          <p:nvPr/>
        </p:nvSpPr>
        <p:spPr>
          <a:xfrm>
            <a:off x="3273552" y="2185416"/>
            <a:ext cx="128016" cy="147218"/>
          </a:xfrm>
          <a:prstGeom prst="downArrow">
            <a:avLst/>
          </a:prstGeom>
          <a:solidFill>
            <a:srgbClr val="8A93A0"/>
          </a:solidFill>
          <a:ln/>
        </p:spPr>
      </p:sp>
      <p:sp>
        <p:nvSpPr>
          <p:cNvPr id="9" name="Shape 6"/>
          <p:cNvSpPr/>
          <p:nvPr/>
        </p:nvSpPr>
        <p:spPr>
          <a:xfrm>
            <a:off x="502920" y="2313432"/>
            <a:ext cx="5669280" cy="749808"/>
          </a:xfrm>
          <a:prstGeom prst="roundRect">
            <a:avLst>
              <a:gd name="adj" fmla="val 10976"/>
            </a:avLst>
          </a:prstGeom>
          <a:solidFill>
            <a:srgbClr val="EAF1FA"/>
          </a:solidFill>
          <a:ln/>
          <a:effectLst>
            <a:outerShdw blurRad="76200" dist="25400" dir="5400000" algn="bl" rotWithShape="0">
              <a:srgbClr val="9AA7B5">
                <a:alpha val="28000"/>
              </a:srgbClr>
            </a:outerShdw>
          </a:effectLst>
        </p:spPr>
      </p:sp>
      <p:sp>
        <p:nvSpPr>
          <p:cNvPr id="10" name="Shape 7"/>
          <p:cNvSpPr/>
          <p:nvPr/>
        </p:nvSpPr>
        <p:spPr>
          <a:xfrm>
            <a:off x="649224" y="2459736"/>
            <a:ext cx="457200" cy="457200"/>
          </a:xfrm>
          <a:prstGeom prst="ellipse">
            <a:avLst/>
          </a:prstGeom>
          <a:solidFill>
            <a:srgbClr val="FFFFFF"/>
          </a:solidFill>
          <a:ln/>
        </p:spPr>
      </p:sp>
      <p:pic>
        <p:nvPicPr>
          <p:cNvPr id="11" name="Image 1" descr="/home/claude/tr_pptx/icons/water_blue.png"/>
          <p:cNvPicPr>
            <a:picLocks noChangeAspect="1"/>
          </p:cNvPicPr>
          <p:nvPr/>
        </p:nvPicPr>
        <p:blipFill>
          <a:blip r:embed="rId4"/>
          <a:stretch>
            <a:fillRect/>
          </a:stretch>
        </p:blipFill>
        <p:spPr>
          <a:xfrm>
            <a:off x="740664" y="2551176"/>
            <a:ext cx="274320" cy="274320"/>
          </a:xfrm>
          <a:prstGeom prst="rect">
            <a:avLst/>
          </a:prstGeom>
        </p:spPr>
      </p:pic>
      <p:sp>
        <p:nvSpPr>
          <p:cNvPr id="12" name="Text 8"/>
          <p:cNvSpPr/>
          <p:nvPr/>
        </p:nvSpPr>
        <p:spPr>
          <a:xfrm>
            <a:off x="1280160" y="2313432"/>
            <a:ext cx="4754880" cy="7498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Urban Flood</a:t>
            </a:r>
            <a:endParaRPr lang="en-US" sz="1500" dirty="0"/>
          </a:p>
        </p:txBody>
      </p:sp>
      <p:sp>
        <p:nvSpPr>
          <p:cNvPr id="13" name="Shape 9"/>
          <p:cNvSpPr/>
          <p:nvPr/>
        </p:nvSpPr>
        <p:spPr>
          <a:xfrm>
            <a:off x="3273552" y="3081528"/>
            <a:ext cx="128016" cy="147218"/>
          </a:xfrm>
          <a:prstGeom prst="downArrow">
            <a:avLst/>
          </a:prstGeom>
          <a:solidFill>
            <a:srgbClr val="8A93A0"/>
          </a:solidFill>
          <a:ln/>
        </p:spPr>
      </p:sp>
      <p:sp>
        <p:nvSpPr>
          <p:cNvPr id="14" name="Shape 10"/>
          <p:cNvSpPr/>
          <p:nvPr/>
        </p:nvSpPr>
        <p:spPr>
          <a:xfrm>
            <a:off x="502920" y="3209544"/>
            <a:ext cx="5669280" cy="749808"/>
          </a:xfrm>
          <a:prstGeom prst="roundRect">
            <a:avLst>
              <a:gd name="adj" fmla="val 10976"/>
            </a:avLst>
          </a:prstGeom>
          <a:solidFill>
            <a:srgbClr val="DCE9F7"/>
          </a:solidFill>
          <a:ln/>
          <a:effectLst>
            <a:outerShdw blurRad="76200" dist="25400" dir="5400000" algn="bl" rotWithShape="0">
              <a:srgbClr val="9AA7B5">
                <a:alpha val="28000"/>
              </a:srgbClr>
            </a:outerShdw>
          </a:effectLst>
        </p:spPr>
      </p:sp>
      <p:sp>
        <p:nvSpPr>
          <p:cNvPr id="15" name="Shape 11"/>
          <p:cNvSpPr/>
          <p:nvPr/>
        </p:nvSpPr>
        <p:spPr>
          <a:xfrm>
            <a:off x="649224" y="3355848"/>
            <a:ext cx="457200" cy="457200"/>
          </a:xfrm>
          <a:prstGeom prst="ellipse">
            <a:avLst/>
          </a:prstGeom>
          <a:solidFill>
            <a:srgbClr val="FFFFFF"/>
          </a:solidFill>
          <a:ln/>
        </p:spPr>
      </p:sp>
      <p:pic>
        <p:nvPicPr>
          <p:cNvPr id="16" name="Image 2" descr="/home/claude/tr_pptx/icons/road_navy.png"/>
          <p:cNvPicPr>
            <a:picLocks noChangeAspect="1"/>
          </p:cNvPicPr>
          <p:nvPr/>
        </p:nvPicPr>
        <p:blipFill>
          <a:blip r:embed="rId5"/>
          <a:stretch>
            <a:fillRect/>
          </a:stretch>
        </p:blipFill>
        <p:spPr>
          <a:xfrm>
            <a:off x="740664" y="3447288"/>
            <a:ext cx="274320" cy="274320"/>
          </a:xfrm>
          <a:prstGeom prst="rect">
            <a:avLst/>
          </a:prstGeom>
        </p:spPr>
      </p:pic>
      <p:sp>
        <p:nvSpPr>
          <p:cNvPr id="17" name="Text 12"/>
          <p:cNvSpPr/>
          <p:nvPr/>
        </p:nvSpPr>
        <p:spPr>
          <a:xfrm>
            <a:off x="1280160" y="3209544"/>
            <a:ext cx="4754880" cy="7498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Road Network Disruption</a:t>
            </a:r>
            <a:endParaRPr lang="en-US" sz="1500" dirty="0"/>
          </a:p>
        </p:txBody>
      </p:sp>
      <p:sp>
        <p:nvSpPr>
          <p:cNvPr id="18" name="Shape 13"/>
          <p:cNvSpPr/>
          <p:nvPr/>
        </p:nvSpPr>
        <p:spPr>
          <a:xfrm>
            <a:off x="3273552" y="3977640"/>
            <a:ext cx="128016" cy="147218"/>
          </a:xfrm>
          <a:prstGeom prst="downArrow">
            <a:avLst/>
          </a:prstGeom>
          <a:solidFill>
            <a:srgbClr val="8A93A0"/>
          </a:solidFill>
          <a:ln/>
        </p:spPr>
      </p:sp>
      <p:sp>
        <p:nvSpPr>
          <p:cNvPr id="19" name="Shape 14"/>
          <p:cNvSpPr/>
          <p:nvPr/>
        </p:nvSpPr>
        <p:spPr>
          <a:xfrm>
            <a:off x="502920" y="4105656"/>
            <a:ext cx="5669280" cy="749808"/>
          </a:xfrm>
          <a:prstGeom prst="roundRect">
            <a:avLst>
              <a:gd name="adj" fmla="val 10976"/>
            </a:avLst>
          </a:prstGeom>
          <a:solidFill>
            <a:srgbClr val="C9DEF2"/>
          </a:solidFill>
          <a:ln/>
          <a:effectLst>
            <a:outerShdw blurRad="76200" dist="25400" dir="5400000" algn="bl" rotWithShape="0">
              <a:srgbClr val="9AA7B5">
                <a:alpha val="28000"/>
              </a:srgbClr>
            </a:outerShdw>
          </a:effectLst>
        </p:spPr>
      </p:sp>
      <p:sp>
        <p:nvSpPr>
          <p:cNvPr id="20" name="Shape 15"/>
          <p:cNvSpPr/>
          <p:nvPr/>
        </p:nvSpPr>
        <p:spPr>
          <a:xfrm>
            <a:off x="649224" y="4251960"/>
            <a:ext cx="457200" cy="457200"/>
          </a:xfrm>
          <a:prstGeom prst="ellipse">
            <a:avLst/>
          </a:prstGeom>
          <a:solidFill>
            <a:srgbClr val="FFFFFF"/>
          </a:solidFill>
          <a:ln/>
        </p:spPr>
      </p:sp>
      <p:pic>
        <p:nvPicPr>
          <p:cNvPr id="21" name="Image 3" descr="/home/claude/tr_pptx/icons/marker_blue.png"/>
          <p:cNvPicPr>
            <a:picLocks noChangeAspect="1"/>
          </p:cNvPicPr>
          <p:nvPr/>
        </p:nvPicPr>
        <p:blipFill>
          <a:blip r:embed="rId6"/>
          <a:stretch>
            <a:fillRect/>
          </a:stretch>
        </p:blipFill>
        <p:spPr>
          <a:xfrm>
            <a:off x="740664" y="4343400"/>
            <a:ext cx="274320" cy="274320"/>
          </a:xfrm>
          <a:prstGeom prst="rect">
            <a:avLst/>
          </a:prstGeom>
        </p:spPr>
      </p:pic>
      <p:sp>
        <p:nvSpPr>
          <p:cNvPr id="22" name="Text 16"/>
          <p:cNvSpPr/>
          <p:nvPr/>
        </p:nvSpPr>
        <p:spPr>
          <a:xfrm>
            <a:off x="1280160" y="4105656"/>
            <a:ext cx="4754880" cy="7498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Accessibility Reduction</a:t>
            </a:r>
            <a:endParaRPr lang="en-US" sz="1500" dirty="0"/>
          </a:p>
        </p:txBody>
      </p:sp>
      <p:sp>
        <p:nvSpPr>
          <p:cNvPr id="23" name="Shape 17"/>
          <p:cNvSpPr/>
          <p:nvPr/>
        </p:nvSpPr>
        <p:spPr>
          <a:xfrm>
            <a:off x="3273552" y="4873752"/>
            <a:ext cx="128016" cy="147218"/>
          </a:xfrm>
          <a:prstGeom prst="downArrow">
            <a:avLst/>
          </a:prstGeom>
          <a:solidFill>
            <a:srgbClr val="8A93A0"/>
          </a:solidFill>
          <a:ln/>
        </p:spPr>
      </p:sp>
      <p:sp>
        <p:nvSpPr>
          <p:cNvPr id="24" name="Shape 18"/>
          <p:cNvSpPr/>
          <p:nvPr/>
        </p:nvSpPr>
        <p:spPr>
          <a:xfrm>
            <a:off x="502920" y="5001768"/>
            <a:ext cx="5669280" cy="749808"/>
          </a:xfrm>
          <a:prstGeom prst="roundRect">
            <a:avLst>
              <a:gd name="adj" fmla="val 10976"/>
            </a:avLst>
          </a:prstGeom>
          <a:solidFill>
            <a:srgbClr val="AFCFE9"/>
          </a:solidFill>
          <a:ln/>
          <a:effectLst>
            <a:outerShdw blurRad="76200" dist="25400" dir="5400000" algn="bl" rotWithShape="0">
              <a:srgbClr val="9AA7B5">
                <a:alpha val="28000"/>
              </a:srgbClr>
            </a:outerShdw>
          </a:effectLst>
        </p:spPr>
      </p:sp>
      <p:sp>
        <p:nvSpPr>
          <p:cNvPr id="25" name="Shape 19"/>
          <p:cNvSpPr/>
          <p:nvPr/>
        </p:nvSpPr>
        <p:spPr>
          <a:xfrm>
            <a:off x="649224" y="5148072"/>
            <a:ext cx="457200" cy="457200"/>
          </a:xfrm>
          <a:prstGeom prst="ellipse">
            <a:avLst/>
          </a:prstGeom>
          <a:solidFill>
            <a:srgbClr val="FFFFFF"/>
          </a:solidFill>
          <a:ln/>
        </p:spPr>
      </p:sp>
      <p:pic>
        <p:nvPicPr>
          <p:cNvPr id="26" name="Image 4" descr="/home/claude/tr_pptx/icons/traveller_blue.png"/>
          <p:cNvPicPr>
            <a:picLocks noChangeAspect="1"/>
          </p:cNvPicPr>
          <p:nvPr/>
        </p:nvPicPr>
        <p:blipFill>
          <a:blip r:embed="rId7"/>
          <a:stretch>
            <a:fillRect/>
          </a:stretch>
        </p:blipFill>
        <p:spPr>
          <a:xfrm>
            <a:off x="740664" y="5239512"/>
            <a:ext cx="274320" cy="274320"/>
          </a:xfrm>
          <a:prstGeom prst="rect">
            <a:avLst/>
          </a:prstGeom>
        </p:spPr>
      </p:pic>
      <p:sp>
        <p:nvSpPr>
          <p:cNvPr id="27" name="Text 20"/>
          <p:cNvSpPr/>
          <p:nvPr/>
        </p:nvSpPr>
        <p:spPr>
          <a:xfrm>
            <a:off x="1280160" y="5001768"/>
            <a:ext cx="4754880" cy="7498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Traveller Behaviour Change</a:t>
            </a:r>
            <a:endParaRPr lang="en-US" sz="1500" dirty="0"/>
          </a:p>
        </p:txBody>
      </p:sp>
      <p:sp>
        <p:nvSpPr>
          <p:cNvPr id="28" name="Shape 21"/>
          <p:cNvSpPr/>
          <p:nvPr/>
        </p:nvSpPr>
        <p:spPr>
          <a:xfrm>
            <a:off x="3273552" y="5769864"/>
            <a:ext cx="128016" cy="147218"/>
          </a:xfrm>
          <a:prstGeom prst="downArrow">
            <a:avLst/>
          </a:prstGeom>
          <a:solidFill>
            <a:srgbClr val="8A93A0"/>
          </a:solidFill>
          <a:ln/>
        </p:spPr>
      </p:sp>
      <p:sp>
        <p:nvSpPr>
          <p:cNvPr id="29" name="Shape 22"/>
          <p:cNvSpPr/>
          <p:nvPr/>
        </p:nvSpPr>
        <p:spPr>
          <a:xfrm>
            <a:off x="502920" y="5897880"/>
            <a:ext cx="5669280" cy="749808"/>
          </a:xfrm>
          <a:prstGeom prst="roundRect">
            <a:avLst>
              <a:gd name="adj" fmla="val 10976"/>
            </a:avLst>
          </a:prstGeom>
          <a:solidFill>
            <a:srgbClr val="1F4E8C"/>
          </a:solidFill>
          <a:ln/>
          <a:effectLst>
            <a:outerShdw blurRad="76200" dist="25400" dir="5400000" algn="bl" rotWithShape="0">
              <a:srgbClr val="9AA7B5">
                <a:alpha val="28000"/>
              </a:srgbClr>
            </a:outerShdw>
          </a:effectLst>
        </p:spPr>
      </p:sp>
      <p:sp>
        <p:nvSpPr>
          <p:cNvPr id="30" name="Shape 23"/>
          <p:cNvSpPr/>
          <p:nvPr/>
        </p:nvSpPr>
        <p:spPr>
          <a:xfrm>
            <a:off x="649224" y="6044184"/>
            <a:ext cx="457200" cy="457200"/>
          </a:xfrm>
          <a:prstGeom prst="ellipse">
            <a:avLst/>
          </a:prstGeom>
          <a:solidFill>
            <a:srgbClr val="FFFFFF"/>
          </a:solidFill>
          <a:ln/>
        </p:spPr>
      </p:sp>
      <p:pic>
        <p:nvPicPr>
          <p:cNvPr id="31" name="Image 5" descr="/home/claude/tr_pptx/icons/chart_blue.png"/>
          <p:cNvPicPr>
            <a:picLocks noChangeAspect="1"/>
          </p:cNvPicPr>
          <p:nvPr/>
        </p:nvPicPr>
        <p:blipFill>
          <a:blip r:embed="rId8"/>
          <a:stretch>
            <a:fillRect/>
          </a:stretch>
        </p:blipFill>
        <p:spPr>
          <a:xfrm>
            <a:off x="740664" y="6135624"/>
            <a:ext cx="274320" cy="274320"/>
          </a:xfrm>
          <a:prstGeom prst="rect">
            <a:avLst/>
          </a:prstGeom>
        </p:spPr>
      </p:pic>
      <p:sp>
        <p:nvSpPr>
          <p:cNvPr id="32" name="Text 24"/>
          <p:cNvSpPr/>
          <p:nvPr/>
        </p:nvSpPr>
        <p:spPr>
          <a:xfrm>
            <a:off x="1280160" y="5897880"/>
            <a:ext cx="4754880" cy="7498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Reduced Transport Resilience</a:t>
            </a:r>
            <a:endParaRPr lang="en-US" sz="1500" dirty="0"/>
          </a:p>
        </p:txBody>
      </p:sp>
      <p:sp>
        <p:nvSpPr>
          <p:cNvPr id="33" name="Text 25"/>
          <p:cNvSpPr/>
          <p:nvPr/>
        </p:nvSpPr>
        <p:spPr>
          <a:xfrm>
            <a:off x="6537960" y="1463040"/>
            <a:ext cx="5120640" cy="36576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Why This Matters</a:t>
            </a:r>
            <a:endParaRPr lang="en-US" sz="1800" dirty="0"/>
          </a:p>
        </p:txBody>
      </p:sp>
      <p:sp>
        <p:nvSpPr>
          <p:cNvPr id="34" name="Text 26"/>
          <p:cNvSpPr/>
          <p:nvPr/>
        </p:nvSpPr>
        <p:spPr>
          <a:xfrm>
            <a:off x="6537960" y="1965960"/>
            <a:ext cx="5120640" cy="292608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dirty="0">
                <a:solidFill>
                  <a:srgbClr val="5B6675"/>
                </a:solidFill>
                <a:latin typeface="Calibri" pitchFamily="34" charset="0"/>
                <a:ea typeface="Calibri" pitchFamily="34" charset="-122"/>
                <a:cs typeface="Calibri" pitchFamily="34" charset="-120"/>
              </a:rPr>
              <a:t>Flooding is a recurring disruption to urban road networks, not an isolated event.</a:t>
            </a:r>
            <a:endParaRPr lang="en-US" dirty="0"/>
          </a:p>
          <a:p>
            <a:pPr marL="177800" indent="-177800">
              <a:lnSpc>
                <a:spcPct val="115000"/>
              </a:lnSpc>
              <a:spcAft>
                <a:spcPts val="1000"/>
              </a:spcAft>
              <a:buSzPct val="100000"/>
              <a:buChar char="•"/>
            </a:pPr>
            <a:r>
              <a:rPr lang="en-US" dirty="0">
                <a:solidFill>
                  <a:srgbClr val="5B6675"/>
                </a:solidFill>
                <a:latin typeface="Calibri" pitchFamily="34" charset="0"/>
                <a:ea typeface="Calibri" pitchFamily="34" charset="-122"/>
                <a:cs typeface="Calibri" pitchFamily="34" charset="-120"/>
              </a:rPr>
              <a:t>Disrupted roads reduce accessibility to jobs, services, and essential destinations.</a:t>
            </a:r>
            <a:endParaRPr lang="en-US" dirty="0"/>
          </a:p>
          <a:p>
            <a:pPr marL="177800" indent="-177800">
              <a:lnSpc>
                <a:spcPct val="115000"/>
              </a:lnSpc>
              <a:spcAft>
                <a:spcPts val="1000"/>
              </a:spcAft>
              <a:buSzPct val="100000"/>
              <a:buChar char="•"/>
            </a:pPr>
            <a:r>
              <a:rPr lang="en-US" dirty="0">
                <a:solidFill>
                  <a:srgbClr val="5B6675"/>
                </a:solidFill>
                <a:latin typeface="Calibri" pitchFamily="34" charset="0"/>
                <a:ea typeface="Calibri" pitchFamily="34" charset="-122"/>
                <a:cs typeface="Calibri" pitchFamily="34" charset="-120"/>
              </a:rPr>
              <a:t>Travellers adapt by changing mode, cancelling trips, or altering routes.</a:t>
            </a:r>
            <a:endParaRPr lang="en-US" dirty="0"/>
          </a:p>
          <a:p>
            <a:pPr marL="177800" indent="-177800">
              <a:lnSpc>
                <a:spcPct val="115000"/>
              </a:lnSpc>
              <a:spcAft>
                <a:spcPts val="1000"/>
              </a:spcAft>
              <a:buSzPct val="100000"/>
              <a:buChar char="•"/>
            </a:pPr>
            <a:r>
              <a:rPr lang="en-US" dirty="0">
                <a:solidFill>
                  <a:srgbClr val="5B6675"/>
                </a:solidFill>
                <a:latin typeface="Calibri" pitchFamily="34" charset="0"/>
                <a:ea typeface="Calibri" pitchFamily="34" charset="-122"/>
                <a:cs typeface="Calibri" pitchFamily="34" charset="-120"/>
              </a:rPr>
              <a:t>These adaptations are rarely captured in conventional resilience assessments.</a:t>
            </a:r>
            <a:endParaRPr lang="en-US" dirty="0"/>
          </a:p>
        </p:txBody>
      </p:sp>
      <p:sp>
        <p:nvSpPr>
          <p:cNvPr id="35" name="Shape 27"/>
          <p:cNvSpPr/>
          <p:nvPr/>
        </p:nvSpPr>
        <p:spPr>
          <a:xfrm>
            <a:off x="6537960" y="5074920"/>
            <a:ext cx="5120640" cy="1234440"/>
          </a:xfrm>
          <a:prstGeom prst="roundRect">
            <a:avLst>
              <a:gd name="adj" fmla="val 6667"/>
            </a:avLst>
          </a:prstGeom>
          <a:solidFill>
            <a:srgbClr val="EAF1FA"/>
          </a:solidFill>
          <a:ln/>
        </p:spPr>
      </p:sp>
      <p:sp>
        <p:nvSpPr>
          <p:cNvPr id="36" name="Text 28"/>
          <p:cNvSpPr/>
          <p:nvPr/>
        </p:nvSpPr>
        <p:spPr>
          <a:xfrm>
            <a:off x="6812280" y="5074920"/>
            <a:ext cx="4572000" cy="1234440"/>
          </a:xfrm>
          <a:prstGeom prst="rect">
            <a:avLst/>
          </a:prstGeom>
          <a:noFill/>
          <a:ln/>
        </p:spPr>
        <p:txBody>
          <a:bodyPr wrap="square" lIns="0" tIns="0" rIns="0" bIns="0" rtlCol="0" anchor="ctr"/>
          <a:lstStyle/>
          <a:p>
            <a:pPr marL="0" indent="0">
              <a:lnSpc>
                <a:spcPct val="120000"/>
              </a:lnSpc>
              <a:buNone/>
            </a:pPr>
            <a:r>
              <a:rPr lang="en-US" i="1" dirty="0">
                <a:solidFill>
                  <a:srgbClr val="1B2A4A"/>
                </a:solidFill>
                <a:latin typeface="Cambria" pitchFamily="34" charset="0"/>
                <a:ea typeface="Cambria" pitchFamily="34" charset="-122"/>
                <a:cs typeface="Cambria" pitchFamily="34" charset="-120"/>
              </a:rPr>
              <a:t>Transport resilience depends not only on infrastructure recovery, but on how travellers respond to disruption.</a:t>
            </a:r>
            <a:endParaRPr lang="en-US" dirty="0"/>
          </a:p>
        </p:txBody>
      </p:sp>
      <p:sp>
        <p:nvSpPr>
          <p:cNvPr id="37"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POSITIONING THE STUDY</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Research Gap and Objectives</a:t>
            </a:r>
            <a:endParaRPr lang="en-US" sz="2800" dirty="0"/>
          </a:p>
        </p:txBody>
      </p:sp>
      <p:sp>
        <p:nvSpPr>
          <p:cNvPr id="4" name="Text 2"/>
          <p:cNvSpPr/>
          <p:nvPr/>
        </p:nvSpPr>
        <p:spPr>
          <a:xfrm>
            <a:off x="502920" y="1417320"/>
            <a:ext cx="5989320" cy="32004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Research Gap</a:t>
            </a:r>
            <a:endParaRPr lang="en-US" sz="1600" dirty="0"/>
          </a:p>
        </p:txBody>
      </p:sp>
      <p:sp>
        <p:nvSpPr>
          <p:cNvPr id="5" name="Shape 3"/>
          <p:cNvSpPr/>
          <p:nvPr/>
        </p:nvSpPr>
        <p:spPr>
          <a:xfrm>
            <a:off x="2331720" y="1828800"/>
            <a:ext cx="2080260" cy="365760"/>
          </a:xfrm>
          <a:prstGeom prst="roundRect">
            <a:avLst>
              <a:gd name="adj" fmla="val 12500"/>
            </a:avLst>
          </a:prstGeom>
          <a:solidFill>
            <a:srgbClr val="F4F8FC"/>
          </a:solidFill>
          <a:ln/>
        </p:spPr>
      </p:sp>
      <p:sp>
        <p:nvSpPr>
          <p:cNvPr id="6" name="Text 4"/>
          <p:cNvSpPr/>
          <p:nvPr/>
        </p:nvSpPr>
        <p:spPr>
          <a:xfrm>
            <a:off x="2404872" y="1828800"/>
            <a:ext cx="1933956" cy="365760"/>
          </a:xfrm>
          <a:prstGeom prst="rect">
            <a:avLst/>
          </a:prstGeom>
          <a:noFill/>
          <a:ln/>
        </p:spPr>
        <p:txBody>
          <a:bodyPr wrap="square" lIns="0" tIns="0" rIns="0" bIns="0" rtlCol="0" anchor="ctr"/>
          <a:lstStyle/>
          <a:p>
            <a:pPr marL="0" indent="0" algn="ctr">
              <a:lnSpc>
                <a:spcPct val="100000"/>
              </a:lnSpc>
              <a:buNone/>
            </a:pPr>
            <a:r>
              <a:rPr lang="en-US" sz="1150" b="1" dirty="0">
                <a:solidFill>
                  <a:srgbClr val="5B6675"/>
                </a:solidFill>
                <a:latin typeface="Calibri" pitchFamily="34" charset="0"/>
                <a:ea typeface="Calibri" pitchFamily="34" charset="-122"/>
                <a:cs typeface="Calibri" pitchFamily="34" charset="-120"/>
              </a:rPr>
              <a:t>Existing Studies</a:t>
            </a:r>
            <a:endParaRPr lang="en-US" sz="1150" dirty="0"/>
          </a:p>
        </p:txBody>
      </p:sp>
      <p:sp>
        <p:nvSpPr>
          <p:cNvPr id="7" name="Shape 5"/>
          <p:cNvSpPr/>
          <p:nvPr/>
        </p:nvSpPr>
        <p:spPr>
          <a:xfrm>
            <a:off x="4503420" y="1828800"/>
            <a:ext cx="2080260" cy="365760"/>
          </a:xfrm>
          <a:prstGeom prst="roundRect">
            <a:avLst>
              <a:gd name="adj" fmla="val 12500"/>
            </a:avLst>
          </a:prstGeom>
          <a:solidFill>
            <a:srgbClr val="1F4E8C"/>
          </a:solidFill>
          <a:ln/>
        </p:spPr>
      </p:sp>
      <p:sp>
        <p:nvSpPr>
          <p:cNvPr id="8" name="Text 6"/>
          <p:cNvSpPr/>
          <p:nvPr/>
        </p:nvSpPr>
        <p:spPr>
          <a:xfrm>
            <a:off x="4576572" y="1828800"/>
            <a:ext cx="1933956" cy="365760"/>
          </a:xfrm>
          <a:prstGeom prst="rect">
            <a:avLst/>
          </a:prstGeom>
          <a:noFill/>
          <a:ln/>
        </p:spPr>
        <p:txBody>
          <a:bodyPr wrap="square" lIns="0" tIns="0" rIns="0" bIns="0" rtlCol="0" anchor="ctr"/>
          <a:lstStyle/>
          <a:p>
            <a:pPr marL="0" indent="0" algn="ctr">
              <a:lnSpc>
                <a:spcPct val="100000"/>
              </a:lnSpc>
              <a:buNone/>
            </a:pPr>
            <a:r>
              <a:rPr lang="en-US" sz="1150" b="1" dirty="0">
                <a:solidFill>
                  <a:srgbClr val="FFFFFF"/>
                </a:solidFill>
                <a:latin typeface="Calibri" pitchFamily="34" charset="0"/>
                <a:ea typeface="Calibri" pitchFamily="34" charset="-122"/>
                <a:cs typeface="Calibri" pitchFamily="34" charset="-120"/>
              </a:rPr>
              <a:t>Proposed Research</a:t>
            </a:r>
            <a:endParaRPr lang="en-US" sz="1150" dirty="0"/>
          </a:p>
        </p:txBody>
      </p:sp>
      <p:sp>
        <p:nvSpPr>
          <p:cNvPr id="9" name="Text 7"/>
          <p:cNvSpPr/>
          <p:nvPr/>
        </p:nvSpPr>
        <p:spPr>
          <a:xfrm>
            <a:off x="502920" y="2286000"/>
            <a:ext cx="1783080" cy="512064"/>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Infrastructure</a:t>
            </a:r>
            <a:endParaRPr lang="en-US" sz="1200" dirty="0"/>
          </a:p>
        </p:txBody>
      </p:sp>
      <p:sp>
        <p:nvSpPr>
          <p:cNvPr id="10" name="Shape 8"/>
          <p:cNvSpPr/>
          <p:nvPr/>
        </p:nvSpPr>
        <p:spPr>
          <a:xfrm>
            <a:off x="3252978" y="2423160"/>
            <a:ext cx="237744" cy="237744"/>
          </a:xfrm>
          <a:prstGeom prst="ellipse">
            <a:avLst/>
          </a:prstGeom>
          <a:solidFill>
            <a:srgbClr val="DDEFE1"/>
          </a:solidFill>
          <a:ln/>
        </p:spPr>
      </p:sp>
      <p:sp>
        <p:nvSpPr>
          <p:cNvPr id="11" name="Text 9"/>
          <p:cNvSpPr/>
          <p:nvPr/>
        </p:nvSpPr>
        <p:spPr>
          <a:xfrm>
            <a:off x="3252978" y="2423160"/>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12" name="Shape 10"/>
          <p:cNvSpPr/>
          <p:nvPr/>
        </p:nvSpPr>
        <p:spPr>
          <a:xfrm>
            <a:off x="5424678" y="2423160"/>
            <a:ext cx="237744" cy="237744"/>
          </a:xfrm>
          <a:prstGeom prst="ellipse">
            <a:avLst/>
          </a:prstGeom>
          <a:solidFill>
            <a:srgbClr val="DDEFE1"/>
          </a:solidFill>
          <a:ln/>
        </p:spPr>
      </p:sp>
      <p:sp>
        <p:nvSpPr>
          <p:cNvPr id="13" name="Text 11"/>
          <p:cNvSpPr/>
          <p:nvPr/>
        </p:nvSpPr>
        <p:spPr>
          <a:xfrm>
            <a:off x="5424678" y="2423160"/>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14" name="Shape 12"/>
          <p:cNvSpPr/>
          <p:nvPr/>
        </p:nvSpPr>
        <p:spPr>
          <a:xfrm>
            <a:off x="502920" y="2798064"/>
            <a:ext cx="5989320" cy="0"/>
          </a:xfrm>
          <a:prstGeom prst="line">
            <a:avLst/>
          </a:prstGeom>
          <a:noFill/>
          <a:ln w="9525">
            <a:solidFill>
              <a:srgbClr val="C9D6E4"/>
            </a:solidFill>
            <a:prstDash val="solid"/>
          </a:ln>
        </p:spPr>
      </p:sp>
      <p:sp>
        <p:nvSpPr>
          <p:cNvPr id="15" name="Text 13"/>
          <p:cNvSpPr/>
          <p:nvPr/>
        </p:nvSpPr>
        <p:spPr>
          <a:xfrm>
            <a:off x="502920" y="2798064"/>
            <a:ext cx="1783080" cy="512064"/>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Accessibility</a:t>
            </a:r>
            <a:endParaRPr lang="en-US" sz="1200" dirty="0"/>
          </a:p>
        </p:txBody>
      </p:sp>
      <p:sp>
        <p:nvSpPr>
          <p:cNvPr id="16" name="Shape 14"/>
          <p:cNvSpPr/>
          <p:nvPr/>
        </p:nvSpPr>
        <p:spPr>
          <a:xfrm>
            <a:off x="3252978" y="2935224"/>
            <a:ext cx="237744" cy="237744"/>
          </a:xfrm>
          <a:prstGeom prst="ellipse">
            <a:avLst/>
          </a:prstGeom>
          <a:solidFill>
            <a:srgbClr val="DDEFE1"/>
          </a:solidFill>
          <a:ln/>
        </p:spPr>
      </p:sp>
      <p:sp>
        <p:nvSpPr>
          <p:cNvPr id="17" name="Text 15"/>
          <p:cNvSpPr/>
          <p:nvPr/>
        </p:nvSpPr>
        <p:spPr>
          <a:xfrm>
            <a:off x="3252978" y="2935224"/>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18" name="Shape 16"/>
          <p:cNvSpPr/>
          <p:nvPr/>
        </p:nvSpPr>
        <p:spPr>
          <a:xfrm>
            <a:off x="5424678" y="2935224"/>
            <a:ext cx="237744" cy="237744"/>
          </a:xfrm>
          <a:prstGeom prst="ellipse">
            <a:avLst/>
          </a:prstGeom>
          <a:solidFill>
            <a:srgbClr val="DDEFE1"/>
          </a:solidFill>
          <a:ln/>
        </p:spPr>
      </p:sp>
      <p:sp>
        <p:nvSpPr>
          <p:cNvPr id="19" name="Text 17"/>
          <p:cNvSpPr/>
          <p:nvPr/>
        </p:nvSpPr>
        <p:spPr>
          <a:xfrm>
            <a:off x="5424678" y="2935224"/>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20" name="Shape 18"/>
          <p:cNvSpPr/>
          <p:nvPr/>
        </p:nvSpPr>
        <p:spPr>
          <a:xfrm>
            <a:off x="502920" y="3310128"/>
            <a:ext cx="5989320" cy="0"/>
          </a:xfrm>
          <a:prstGeom prst="line">
            <a:avLst/>
          </a:prstGeom>
          <a:noFill/>
          <a:ln w="9525">
            <a:solidFill>
              <a:srgbClr val="C9D6E4"/>
            </a:solidFill>
            <a:prstDash val="solid"/>
          </a:ln>
        </p:spPr>
      </p:sp>
      <p:sp>
        <p:nvSpPr>
          <p:cNvPr id="21" name="Text 19"/>
          <p:cNvSpPr/>
          <p:nvPr/>
        </p:nvSpPr>
        <p:spPr>
          <a:xfrm>
            <a:off x="502920" y="3310128"/>
            <a:ext cx="1783080" cy="512064"/>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Behaviour</a:t>
            </a:r>
            <a:endParaRPr lang="en-US" sz="1200" dirty="0"/>
          </a:p>
        </p:txBody>
      </p:sp>
      <p:sp>
        <p:nvSpPr>
          <p:cNvPr id="22" name="Shape 20"/>
          <p:cNvSpPr/>
          <p:nvPr/>
        </p:nvSpPr>
        <p:spPr>
          <a:xfrm>
            <a:off x="3252978" y="3447288"/>
            <a:ext cx="237744" cy="237744"/>
          </a:xfrm>
          <a:prstGeom prst="ellipse">
            <a:avLst/>
          </a:prstGeom>
          <a:solidFill>
            <a:srgbClr val="F3E1E1"/>
          </a:solidFill>
          <a:ln/>
        </p:spPr>
      </p:sp>
      <p:sp>
        <p:nvSpPr>
          <p:cNvPr id="23" name="Text 21"/>
          <p:cNvSpPr/>
          <p:nvPr/>
        </p:nvSpPr>
        <p:spPr>
          <a:xfrm>
            <a:off x="3252978" y="3447288"/>
            <a:ext cx="237744" cy="237744"/>
          </a:xfrm>
          <a:prstGeom prst="rect">
            <a:avLst/>
          </a:prstGeom>
          <a:noFill/>
          <a:ln/>
        </p:spPr>
        <p:txBody>
          <a:bodyPr wrap="square" lIns="0" tIns="0" rIns="0" bIns="0" rtlCol="0" anchor="ctr"/>
          <a:lstStyle/>
          <a:p>
            <a:pPr marL="0" indent="0" algn="ctr">
              <a:buNone/>
            </a:pPr>
            <a:r>
              <a:rPr lang="en-US" sz="1200" b="1" dirty="0">
                <a:solidFill>
                  <a:srgbClr val="B54545"/>
                </a:solidFill>
              </a:rPr>
              <a:t>✗</a:t>
            </a:r>
            <a:endParaRPr lang="en-US" sz="1200" dirty="0"/>
          </a:p>
        </p:txBody>
      </p:sp>
      <p:sp>
        <p:nvSpPr>
          <p:cNvPr id="24" name="Shape 22"/>
          <p:cNvSpPr/>
          <p:nvPr/>
        </p:nvSpPr>
        <p:spPr>
          <a:xfrm>
            <a:off x="5424678" y="3447288"/>
            <a:ext cx="237744" cy="237744"/>
          </a:xfrm>
          <a:prstGeom prst="ellipse">
            <a:avLst/>
          </a:prstGeom>
          <a:solidFill>
            <a:srgbClr val="DDEFE1"/>
          </a:solidFill>
          <a:ln/>
        </p:spPr>
      </p:sp>
      <p:sp>
        <p:nvSpPr>
          <p:cNvPr id="25" name="Text 23"/>
          <p:cNvSpPr/>
          <p:nvPr/>
        </p:nvSpPr>
        <p:spPr>
          <a:xfrm>
            <a:off x="5424678" y="3447288"/>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26" name="Shape 24"/>
          <p:cNvSpPr/>
          <p:nvPr/>
        </p:nvSpPr>
        <p:spPr>
          <a:xfrm>
            <a:off x="502920" y="3822192"/>
            <a:ext cx="5989320" cy="0"/>
          </a:xfrm>
          <a:prstGeom prst="line">
            <a:avLst/>
          </a:prstGeom>
          <a:noFill/>
          <a:ln w="9525">
            <a:solidFill>
              <a:srgbClr val="C9D6E4"/>
            </a:solidFill>
            <a:prstDash val="solid"/>
          </a:ln>
        </p:spPr>
      </p:sp>
      <p:sp>
        <p:nvSpPr>
          <p:cNvPr id="27" name="Text 25"/>
          <p:cNvSpPr/>
          <p:nvPr/>
        </p:nvSpPr>
        <p:spPr>
          <a:xfrm>
            <a:off x="502920" y="3822192"/>
            <a:ext cx="1783080" cy="512064"/>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Machine Learning</a:t>
            </a:r>
            <a:endParaRPr lang="en-US" sz="1200" dirty="0"/>
          </a:p>
        </p:txBody>
      </p:sp>
      <p:sp>
        <p:nvSpPr>
          <p:cNvPr id="28" name="Shape 26"/>
          <p:cNvSpPr/>
          <p:nvPr/>
        </p:nvSpPr>
        <p:spPr>
          <a:xfrm>
            <a:off x="3252978" y="3959352"/>
            <a:ext cx="237744" cy="237744"/>
          </a:xfrm>
          <a:prstGeom prst="ellipse">
            <a:avLst/>
          </a:prstGeom>
          <a:solidFill>
            <a:srgbClr val="F3E1E1"/>
          </a:solidFill>
          <a:ln/>
        </p:spPr>
      </p:sp>
      <p:sp>
        <p:nvSpPr>
          <p:cNvPr id="29" name="Text 27"/>
          <p:cNvSpPr/>
          <p:nvPr/>
        </p:nvSpPr>
        <p:spPr>
          <a:xfrm>
            <a:off x="3252978" y="3959352"/>
            <a:ext cx="237744" cy="237744"/>
          </a:xfrm>
          <a:prstGeom prst="rect">
            <a:avLst/>
          </a:prstGeom>
          <a:noFill/>
          <a:ln/>
        </p:spPr>
        <p:txBody>
          <a:bodyPr wrap="square" lIns="0" tIns="0" rIns="0" bIns="0" rtlCol="0" anchor="ctr"/>
          <a:lstStyle/>
          <a:p>
            <a:pPr marL="0" indent="0" algn="ctr">
              <a:buNone/>
            </a:pPr>
            <a:r>
              <a:rPr lang="en-US" sz="1200" b="1" dirty="0">
                <a:solidFill>
                  <a:srgbClr val="B54545"/>
                </a:solidFill>
              </a:rPr>
              <a:t>✗</a:t>
            </a:r>
            <a:endParaRPr lang="en-US" sz="1200" dirty="0"/>
          </a:p>
        </p:txBody>
      </p:sp>
      <p:sp>
        <p:nvSpPr>
          <p:cNvPr id="30" name="Shape 28"/>
          <p:cNvSpPr/>
          <p:nvPr/>
        </p:nvSpPr>
        <p:spPr>
          <a:xfrm>
            <a:off x="5424678" y="3959352"/>
            <a:ext cx="237744" cy="237744"/>
          </a:xfrm>
          <a:prstGeom prst="ellipse">
            <a:avLst/>
          </a:prstGeom>
          <a:solidFill>
            <a:srgbClr val="DDEFE1"/>
          </a:solidFill>
          <a:ln/>
        </p:spPr>
      </p:sp>
      <p:sp>
        <p:nvSpPr>
          <p:cNvPr id="31" name="Text 29"/>
          <p:cNvSpPr/>
          <p:nvPr/>
        </p:nvSpPr>
        <p:spPr>
          <a:xfrm>
            <a:off x="5424678" y="3959352"/>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32" name="Shape 30"/>
          <p:cNvSpPr/>
          <p:nvPr/>
        </p:nvSpPr>
        <p:spPr>
          <a:xfrm>
            <a:off x="502920" y="4334256"/>
            <a:ext cx="5989320" cy="0"/>
          </a:xfrm>
          <a:prstGeom prst="line">
            <a:avLst/>
          </a:prstGeom>
          <a:noFill/>
          <a:ln w="9525">
            <a:solidFill>
              <a:srgbClr val="C9D6E4"/>
            </a:solidFill>
            <a:prstDash val="solid"/>
          </a:ln>
        </p:spPr>
      </p:sp>
      <p:sp>
        <p:nvSpPr>
          <p:cNvPr id="33" name="Text 31"/>
          <p:cNvSpPr/>
          <p:nvPr/>
        </p:nvSpPr>
        <p:spPr>
          <a:xfrm>
            <a:off x="502920" y="4334256"/>
            <a:ext cx="1783080" cy="512064"/>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Historical Analysis</a:t>
            </a:r>
            <a:endParaRPr lang="en-US" sz="1200" dirty="0"/>
          </a:p>
        </p:txBody>
      </p:sp>
      <p:sp>
        <p:nvSpPr>
          <p:cNvPr id="34" name="Shape 32"/>
          <p:cNvSpPr/>
          <p:nvPr/>
        </p:nvSpPr>
        <p:spPr>
          <a:xfrm>
            <a:off x="3252978" y="4471416"/>
            <a:ext cx="237744" cy="237744"/>
          </a:xfrm>
          <a:prstGeom prst="ellipse">
            <a:avLst/>
          </a:prstGeom>
          <a:solidFill>
            <a:srgbClr val="DDEFE1"/>
          </a:solidFill>
          <a:ln/>
        </p:spPr>
      </p:sp>
      <p:sp>
        <p:nvSpPr>
          <p:cNvPr id="35" name="Text 33"/>
          <p:cNvSpPr/>
          <p:nvPr/>
        </p:nvSpPr>
        <p:spPr>
          <a:xfrm>
            <a:off x="3252978" y="4471416"/>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36" name="Shape 34"/>
          <p:cNvSpPr/>
          <p:nvPr/>
        </p:nvSpPr>
        <p:spPr>
          <a:xfrm>
            <a:off x="5424678" y="4471416"/>
            <a:ext cx="237744" cy="237744"/>
          </a:xfrm>
          <a:prstGeom prst="ellipse">
            <a:avLst/>
          </a:prstGeom>
          <a:solidFill>
            <a:srgbClr val="DDEFE1"/>
          </a:solidFill>
          <a:ln/>
        </p:spPr>
      </p:sp>
      <p:sp>
        <p:nvSpPr>
          <p:cNvPr id="37" name="Text 35"/>
          <p:cNvSpPr/>
          <p:nvPr/>
        </p:nvSpPr>
        <p:spPr>
          <a:xfrm>
            <a:off x="5424678" y="4471416"/>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38" name="Shape 36"/>
          <p:cNvSpPr/>
          <p:nvPr/>
        </p:nvSpPr>
        <p:spPr>
          <a:xfrm>
            <a:off x="502920" y="4846320"/>
            <a:ext cx="5989320" cy="0"/>
          </a:xfrm>
          <a:prstGeom prst="line">
            <a:avLst/>
          </a:prstGeom>
          <a:noFill/>
          <a:ln w="9525">
            <a:solidFill>
              <a:srgbClr val="C9D6E4"/>
            </a:solidFill>
            <a:prstDash val="solid"/>
          </a:ln>
        </p:spPr>
      </p:sp>
      <p:sp>
        <p:nvSpPr>
          <p:cNvPr id="39" name="Text 37"/>
          <p:cNvSpPr/>
          <p:nvPr/>
        </p:nvSpPr>
        <p:spPr>
          <a:xfrm>
            <a:off x="502920" y="4846320"/>
            <a:ext cx="1783080" cy="512064"/>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Future Prediction</a:t>
            </a:r>
            <a:endParaRPr lang="en-US" sz="1200" dirty="0"/>
          </a:p>
        </p:txBody>
      </p:sp>
      <p:sp>
        <p:nvSpPr>
          <p:cNvPr id="40" name="Shape 38"/>
          <p:cNvSpPr/>
          <p:nvPr/>
        </p:nvSpPr>
        <p:spPr>
          <a:xfrm>
            <a:off x="3252978" y="4983480"/>
            <a:ext cx="237744" cy="237744"/>
          </a:xfrm>
          <a:prstGeom prst="ellipse">
            <a:avLst/>
          </a:prstGeom>
          <a:solidFill>
            <a:srgbClr val="F3E1E1"/>
          </a:solidFill>
          <a:ln/>
        </p:spPr>
      </p:sp>
      <p:sp>
        <p:nvSpPr>
          <p:cNvPr id="41" name="Text 39"/>
          <p:cNvSpPr/>
          <p:nvPr/>
        </p:nvSpPr>
        <p:spPr>
          <a:xfrm>
            <a:off x="3252978" y="4983480"/>
            <a:ext cx="237744" cy="237744"/>
          </a:xfrm>
          <a:prstGeom prst="rect">
            <a:avLst/>
          </a:prstGeom>
          <a:noFill/>
          <a:ln/>
        </p:spPr>
        <p:txBody>
          <a:bodyPr wrap="square" lIns="0" tIns="0" rIns="0" bIns="0" rtlCol="0" anchor="ctr"/>
          <a:lstStyle/>
          <a:p>
            <a:pPr marL="0" indent="0" algn="ctr">
              <a:buNone/>
            </a:pPr>
            <a:r>
              <a:rPr lang="en-US" sz="1200" b="1" dirty="0">
                <a:solidFill>
                  <a:srgbClr val="B54545"/>
                </a:solidFill>
              </a:rPr>
              <a:t>✗</a:t>
            </a:r>
            <a:endParaRPr lang="en-US" sz="1200" dirty="0"/>
          </a:p>
        </p:txBody>
      </p:sp>
      <p:sp>
        <p:nvSpPr>
          <p:cNvPr id="42" name="Shape 40"/>
          <p:cNvSpPr/>
          <p:nvPr/>
        </p:nvSpPr>
        <p:spPr>
          <a:xfrm>
            <a:off x="5424678" y="4983480"/>
            <a:ext cx="237744" cy="237744"/>
          </a:xfrm>
          <a:prstGeom prst="ellipse">
            <a:avLst/>
          </a:prstGeom>
          <a:solidFill>
            <a:srgbClr val="DDEFE1"/>
          </a:solidFill>
          <a:ln/>
        </p:spPr>
      </p:sp>
      <p:sp>
        <p:nvSpPr>
          <p:cNvPr id="43" name="Text 41"/>
          <p:cNvSpPr/>
          <p:nvPr/>
        </p:nvSpPr>
        <p:spPr>
          <a:xfrm>
            <a:off x="5424678" y="4983480"/>
            <a:ext cx="237744" cy="237744"/>
          </a:xfrm>
          <a:prstGeom prst="rect">
            <a:avLst/>
          </a:prstGeom>
          <a:noFill/>
          <a:ln/>
        </p:spPr>
        <p:txBody>
          <a:bodyPr wrap="square" lIns="0" tIns="0" rIns="0" bIns="0" rtlCol="0" anchor="ctr"/>
          <a:lstStyle/>
          <a:p>
            <a:pPr marL="0" indent="0" algn="ctr">
              <a:buNone/>
            </a:pPr>
            <a:r>
              <a:rPr lang="en-US" sz="1200" b="1" dirty="0">
                <a:solidFill>
                  <a:srgbClr val="2E7D4F"/>
                </a:solidFill>
              </a:rPr>
              <a:t>✓</a:t>
            </a:r>
            <a:endParaRPr lang="en-US" sz="1200" dirty="0"/>
          </a:p>
        </p:txBody>
      </p:sp>
      <p:sp>
        <p:nvSpPr>
          <p:cNvPr id="44" name="Shape 42"/>
          <p:cNvSpPr/>
          <p:nvPr/>
        </p:nvSpPr>
        <p:spPr>
          <a:xfrm>
            <a:off x="502920" y="5495544"/>
            <a:ext cx="5989320" cy="566928"/>
          </a:xfrm>
          <a:prstGeom prst="roundRect">
            <a:avLst>
              <a:gd name="adj" fmla="val 12903"/>
            </a:avLst>
          </a:prstGeom>
          <a:solidFill>
            <a:srgbClr val="EAF1FA"/>
          </a:solidFill>
          <a:ln/>
        </p:spPr>
      </p:sp>
      <p:sp>
        <p:nvSpPr>
          <p:cNvPr id="45" name="Text 43"/>
          <p:cNvSpPr/>
          <p:nvPr/>
        </p:nvSpPr>
        <p:spPr>
          <a:xfrm>
            <a:off x="685800" y="5495544"/>
            <a:ext cx="5623560" cy="566928"/>
          </a:xfrm>
          <a:prstGeom prst="rect">
            <a:avLst/>
          </a:prstGeom>
          <a:noFill/>
          <a:ln/>
        </p:spPr>
        <p:txBody>
          <a:bodyPr wrap="square" lIns="0" tIns="0" rIns="0" bIns="0" rtlCol="0" anchor="ctr"/>
          <a:lstStyle/>
          <a:p>
            <a:pPr marL="0" indent="0">
              <a:buNone/>
            </a:pPr>
            <a:r>
              <a:rPr lang="en-US" sz="1150" b="1" i="1" dirty="0">
                <a:solidFill>
                  <a:srgbClr val="1F4E8C"/>
                </a:solidFill>
                <a:latin typeface="Calibri" pitchFamily="34" charset="0"/>
                <a:ea typeface="Calibri" pitchFamily="34" charset="-122"/>
                <a:cs typeface="Calibri" pitchFamily="34" charset="-120"/>
              </a:rPr>
              <a:t>Novelty: joint historical–future assessment of infrastructure, accessibility, and behavioural adaptation.</a:t>
            </a:r>
            <a:endParaRPr lang="en-US" sz="1150" dirty="0"/>
          </a:p>
        </p:txBody>
      </p:sp>
      <p:sp>
        <p:nvSpPr>
          <p:cNvPr id="46" name="Text 44"/>
          <p:cNvSpPr/>
          <p:nvPr/>
        </p:nvSpPr>
        <p:spPr>
          <a:xfrm>
            <a:off x="6858000" y="1417320"/>
            <a:ext cx="4846320" cy="32004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Overall Objective</a:t>
            </a:r>
            <a:endParaRPr lang="en-US" sz="1600" dirty="0"/>
          </a:p>
        </p:txBody>
      </p:sp>
      <p:sp>
        <p:nvSpPr>
          <p:cNvPr id="47" name="Shape 45"/>
          <p:cNvSpPr/>
          <p:nvPr/>
        </p:nvSpPr>
        <p:spPr>
          <a:xfrm>
            <a:off x="6858000" y="1783080"/>
            <a:ext cx="4846320" cy="777240"/>
          </a:xfrm>
          <a:prstGeom prst="roundRect">
            <a:avLst>
              <a:gd name="adj" fmla="val 9412"/>
            </a:avLst>
          </a:prstGeom>
          <a:solidFill>
            <a:srgbClr val="1F4E8C"/>
          </a:solidFill>
          <a:ln/>
        </p:spPr>
      </p:sp>
      <p:sp>
        <p:nvSpPr>
          <p:cNvPr id="48" name="Text 46"/>
          <p:cNvSpPr/>
          <p:nvPr/>
        </p:nvSpPr>
        <p:spPr>
          <a:xfrm>
            <a:off x="7086600" y="1783080"/>
            <a:ext cx="4389120" cy="777240"/>
          </a:xfrm>
          <a:prstGeom prst="rect">
            <a:avLst/>
          </a:prstGeom>
          <a:noFill/>
          <a:ln/>
        </p:spPr>
        <p:txBody>
          <a:bodyPr wrap="square" lIns="0" tIns="0" rIns="0" bIns="0"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To develop and validate a GIS–machine learning framework that assesses and predicts urban transport resilience to flooding.</a:t>
            </a:r>
            <a:endParaRPr lang="en-US" sz="1250" dirty="0"/>
          </a:p>
        </p:txBody>
      </p:sp>
      <p:sp>
        <p:nvSpPr>
          <p:cNvPr id="49" name="Text 47"/>
          <p:cNvSpPr/>
          <p:nvPr/>
        </p:nvSpPr>
        <p:spPr>
          <a:xfrm>
            <a:off x="6858000" y="2743200"/>
            <a:ext cx="4846320" cy="292608"/>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Key Objectives</a:t>
            </a:r>
            <a:endParaRPr lang="en-US" sz="1400" dirty="0"/>
          </a:p>
        </p:txBody>
      </p:sp>
      <p:sp>
        <p:nvSpPr>
          <p:cNvPr id="50" name="Shape 48"/>
          <p:cNvSpPr/>
          <p:nvPr/>
        </p:nvSpPr>
        <p:spPr>
          <a:xfrm>
            <a:off x="6858000" y="3118104"/>
            <a:ext cx="292608" cy="292608"/>
          </a:xfrm>
          <a:prstGeom prst="ellipse">
            <a:avLst/>
          </a:prstGeom>
          <a:solidFill>
            <a:srgbClr val="1F4E8C"/>
          </a:solidFill>
          <a:ln/>
        </p:spPr>
      </p:sp>
      <p:sp>
        <p:nvSpPr>
          <p:cNvPr id="51" name="Text 49"/>
          <p:cNvSpPr/>
          <p:nvPr/>
        </p:nvSpPr>
        <p:spPr>
          <a:xfrm>
            <a:off x="6858000" y="311810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52" name="Text 50"/>
          <p:cNvSpPr/>
          <p:nvPr/>
        </p:nvSpPr>
        <p:spPr>
          <a:xfrm>
            <a:off x="7278624" y="3090672"/>
            <a:ext cx="4425696" cy="566928"/>
          </a:xfrm>
          <a:prstGeom prst="rect">
            <a:avLst/>
          </a:prstGeom>
          <a:noFill/>
          <a:ln/>
        </p:spPr>
        <p:txBody>
          <a:bodyPr wrap="square" lIns="0" tIns="0" rIns="0" bIns="0" rtlCol="0" anchor="ctr"/>
          <a:lstStyle/>
          <a:p>
            <a:pPr marL="0" indent="0">
              <a:lnSpc>
                <a:spcPct val="105000"/>
              </a:lnSpc>
              <a:buNone/>
            </a:pPr>
            <a:r>
              <a:rPr lang="en-US" sz="1180" dirty="0">
                <a:solidFill>
                  <a:srgbClr val="1B2A4A"/>
                </a:solidFill>
                <a:latin typeface="Calibri" pitchFamily="34" charset="0"/>
                <a:ea typeface="Calibri" pitchFamily="34" charset="-122"/>
                <a:cs typeface="Calibri" pitchFamily="34" charset="-120"/>
              </a:rPr>
              <a:t>Assess historical road infrastructure functionality under flood conditions</a:t>
            </a:r>
            <a:endParaRPr lang="en-US" sz="1180" dirty="0"/>
          </a:p>
        </p:txBody>
      </p:sp>
      <p:sp>
        <p:nvSpPr>
          <p:cNvPr id="53" name="Shape 51"/>
          <p:cNvSpPr/>
          <p:nvPr/>
        </p:nvSpPr>
        <p:spPr>
          <a:xfrm>
            <a:off x="6858000" y="3685032"/>
            <a:ext cx="292608" cy="292608"/>
          </a:xfrm>
          <a:prstGeom prst="ellipse">
            <a:avLst/>
          </a:prstGeom>
          <a:solidFill>
            <a:srgbClr val="2E86C1"/>
          </a:solidFill>
          <a:ln/>
        </p:spPr>
      </p:sp>
      <p:sp>
        <p:nvSpPr>
          <p:cNvPr id="54" name="Text 52"/>
          <p:cNvSpPr/>
          <p:nvPr/>
        </p:nvSpPr>
        <p:spPr>
          <a:xfrm>
            <a:off x="6858000" y="3685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55" name="Text 53"/>
          <p:cNvSpPr/>
          <p:nvPr/>
        </p:nvSpPr>
        <p:spPr>
          <a:xfrm>
            <a:off x="7278624" y="3657600"/>
            <a:ext cx="4425696" cy="566928"/>
          </a:xfrm>
          <a:prstGeom prst="rect">
            <a:avLst/>
          </a:prstGeom>
          <a:noFill/>
          <a:ln/>
        </p:spPr>
        <p:txBody>
          <a:bodyPr wrap="square" lIns="0" tIns="0" rIns="0" bIns="0" rtlCol="0" anchor="ctr"/>
          <a:lstStyle/>
          <a:p>
            <a:pPr marL="0" indent="0">
              <a:lnSpc>
                <a:spcPct val="105000"/>
              </a:lnSpc>
              <a:buNone/>
            </a:pPr>
            <a:r>
              <a:rPr lang="en-US" sz="1180" dirty="0">
                <a:solidFill>
                  <a:srgbClr val="1B2A4A"/>
                </a:solidFill>
                <a:latin typeface="Calibri" pitchFamily="34" charset="0"/>
                <a:ea typeface="Calibri" pitchFamily="34" charset="-122"/>
                <a:cs typeface="Calibri" pitchFamily="34" charset="-120"/>
              </a:rPr>
              <a:t>Quantify accessibility loss and behavioural adaptation of travellers</a:t>
            </a:r>
            <a:endParaRPr lang="en-US" sz="1180" dirty="0"/>
          </a:p>
        </p:txBody>
      </p:sp>
      <p:sp>
        <p:nvSpPr>
          <p:cNvPr id="56" name="Shape 54"/>
          <p:cNvSpPr/>
          <p:nvPr/>
        </p:nvSpPr>
        <p:spPr>
          <a:xfrm>
            <a:off x="6858000" y="4251960"/>
            <a:ext cx="292608" cy="292608"/>
          </a:xfrm>
          <a:prstGeom prst="ellipse">
            <a:avLst/>
          </a:prstGeom>
          <a:solidFill>
            <a:srgbClr val="1F4E8C"/>
          </a:solidFill>
          <a:ln/>
        </p:spPr>
      </p:sp>
      <p:sp>
        <p:nvSpPr>
          <p:cNvPr id="57" name="Text 55"/>
          <p:cNvSpPr/>
          <p:nvPr/>
        </p:nvSpPr>
        <p:spPr>
          <a:xfrm>
            <a:off x="6858000" y="425196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58" name="Text 56"/>
          <p:cNvSpPr/>
          <p:nvPr/>
        </p:nvSpPr>
        <p:spPr>
          <a:xfrm>
            <a:off x="7278624" y="4224528"/>
            <a:ext cx="4425696" cy="566928"/>
          </a:xfrm>
          <a:prstGeom prst="rect">
            <a:avLst/>
          </a:prstGeom>
          <a:noFill/>
          <a:ln/>
        </p:spPr>
        <p:txBody>
          <a:bodyPr wrap="square" lIns="0" tIns="0" rIns="0" bIns="0" rtlCol="0" anchor="ctr"/>
          <a:lstStyle/>
          <a:p>
            <a:pPr marL="0" indent="0">
              <a:lnSpc>
                <a:spcPct val="105000"/>
              </a:lnSpc>
              <a:buNone/>
            </a:pPr>
            <a:r>
              <a:rPr lang="en-US" sz="1180" dirty="0">
                <a:solidFill>
                  <a:srgbClr val="1B2A4A"/>
                </a:solidFill>
                <a:latin typeface="Calibri" pitchFamily="34" charset="0"/>
                <a:ea typeface="Calibri" pitchFamily="34" charset="-122"/>
                <a:cs typeface="Calibri" pitchFamily="34" charset="-120"/>
              </a:rPr>
              <a:t>Construct a historical Transport Resilience Index (TRI)</a:t>
            </a:r>
            <a:endParaRPr lang="en-US" sz="1180" dirty="0"/>
          </a:p>
        </p:txBody>
      </p:sp>
      <p:sp>
        <p:nvSpPr>
          <p:cNvPr id="59" name="Shape 57"/>
          <p:cNvSpPr/>
          <p:nvPr/>
        </p:nvSpPr>
        <p:spPr>
          <a:xfrm>
            <a:off x="6858000" y="4818888"/>
            <a:ext cx="292608" cy="292608"/>
          </a:xfrm>
          <a:prstGeom prst="ellipse">
            <a:avLst/>
          </a:prstGeom>
          <a:solidFill>
            <a:srgbClr val="2E86C1"/>
          </a:solidFill>
          <a:ln/>
        </p:spPr>
      </p:sp>
      <p:sp>
        <p:nvSpPr>
          <p:cNvPr id="60" name="Text 58"/>
          <p:cNvSpPr/>
          <p:nvPr/>
        </p:nvSpPr>
        <p:spPr>
          <a:xfrm>
            <a:off x="6858000" y="481888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61" name="Text 59"/>
          <p:cNvSpPr/>
          <p:nvPr/>
        </p:nvSpPr>
        <p:spPr>
          <a:xfrm>
            <a:off x="7278624" y="4791456"/>
            <a:ext cx="4425696" cy="566928"/>
          </a:xfrm>
          <a:prstGeom prst="rect">
            <a:avLst/>
          </a:prstGeom>
          <a:noFill/>
          <a:ln/>
        </p:spPr>
        <p:txBody>
          <a:bodyPr wrap="square" lIns="0" tIns="0" rIns="0" bIns="0" rtlCol="0" anchor="ctr"/>
          <a:lstStyle/>
          <a:p>
            <a:pPr marL="0" indent="0">
              <a:lnSpc>
                <a:spcPct val="105000"/>
              </a:lnSpc>
              <a:buNone/>
            </a:pPr>
            <a:r>
              <a:rPr lang="en-US" sz="1180" dirty="0">
                <a:solidFill>
                  <a:srgbClr val="1B2A4A"/>
                </a:solidFill>
                <a:latin typeface="Calibri" pitchFamily="34" charset="0"/>
                <a:ea typeface="Calibri" pitchFamily="34" charset="-122"/>
                <a:cs typeface="Calibri" pitchFamily="34" charset="-120"/>
              </a:rPr>
              <a:t>Develop machine learning models to predict traveller behaviour</a:t>
            </a:r>
            <a:endParaRPr lang="en-US" sz="1180" dirty="0"/>
          </a:p>
        </p:txBody>
      </p:sp>
      <p:sp>
        <p:nvSpPr>
          <p:cNvPr id="62" name="Shape 60"/>
          <p:cNvSpPr/>
          <p:nvPr/>
        </p:nvSpPr>
        <p:spPr>
          <a:xfrm>
            <a:off x="6858000" y="5385816"/>
            <a:ext cx="292608" cy="292608"/>
          </a:xfrm>
          <a:prstGeom prst="ellipse">
            <a:avLst/>
          </a:prstGeom>
          <a:solidFill>
            <a:srgbClr val="1F4E8C"/>
          </a:solidFill>
          <a:ln/>
        </p:spPr>
      </p:sp>
      <p:sp>
        <p:nvSpPr>
          <p:cNvPr id="63" name="Text 61"/>
          <p:cNvSpPr/>
          <p:nvPr/>
        </p:nvSpPr>
        <p:spPr>
          <a:xfrm>
            <a:off x="6858000" y="538581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64" name="Text 62"/>
          <p:cNvSpPr/>
          <p:nvPr/>
        </p:nvSpPr>
        <p:spPr>
          <a:xfrm>
            <a:off x="7278624" y="5358384"/>
            <a:ext cx="4425696" cy="566928"/>
          </a:xfrm>
          <a:prstGeom prst="rect">
            <a:avLst/>
          </a:prstGeom>
          <a:noFill/>
          <a:ln/>
        </p:spPr>
        <p:txBody>
          <a:bodyPr wrap="square" lIns="0" tIns="0" rIns="0" bIns="0" rtlCol="0" anchor="ctr"/>
          <a:lstStyle/>
          <a:p>
            <a:pPr marL="0" indent="0">
              <a:lnSpc>
                <a:spcPct val="105000"/>
              </a:lnSpc>
              <a:buNone/>
            </a:pPr>
            <a:r>
              <a:rPr lang="en-US" sz="1180" dirty="0">
                <a:solidFill>
                  <a:srgbClr val="1B2A4A"/>
                </a:solidFill>
                <a:latin typeface="Calibri" pitchFamily="34" charset="0"/>
                <a:ea typeface="Calibri" pitchFamily="34" charset="-122"/>
                <a:cs typeface="Calibri" pitchFamily="34" charset="-120"/>
              </a:rPr>
              <a:t>Predict future TRI under projected flood scenarios</a:t>
            </a:r>
            <a:endParaRPr lang="en-US" sz="1180" dirty="0"/>
          </a:p>
        </p:txBody>
      </p:sp>
      <p:sp>
        <p:nvSpPr>
          <p:cNvPr id="65" name="Shape 63"/>
          <p:cNvSpPr/>
          <p:nvPr/>
        </p:nvSpPr>
        <p:spPr>
          <a:xfrm>
            <a:off x="6858000" y="5952744"/>
            <a:ext cx="292608" cy="292608"/>
          </a:xfrm>
          <a:prstGeom prst="ellipse">
            <a:avLst/>
          </a:prstGeom>
          <a:solidFill>
            <a:srgbClr val="2E86C1"/>
          </a:solidFill>
          <a:ln/>
        </p:spPr>
      </p:sp>
      <p:sp>
        <p:nvSpPr>
          <p:cNvPr id="66" name="Text 64"/>
          <p:cNvSpPr/>
          <p:nvPr/>
        </p:nvSpPr>
        <p:spPr>
          <a:xfrm>
            <a:off x="6858000" y="595274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67" name="Text 65"/>
          <p:cNvSpPr/>
          <p:nvPr/>
        </p:nvSpPr>
        <p:spPr>
          <a:xfrm>
            <a:off x="7278624" y="5925312"/>
            <a:ext cx="4425696" cy="566928"/>
          </a:xfrm>
          <a:prstGeom prst="rect">
            <a:avLst/>
          </a:prstGeom>
          <a:noFill/>
          <a:ln/>
        </p:spPr>
        <p:txBody>
          <a:bodyPr wrap="square" lIns="0" tIns="0" rIns="0" bIns="0" rtlCol="0" anchor="ctr"/>
          <a:lstStyle/>
          <a:p>
            <a:pPr marL="0" indent="0">
              <a:lnSpc>
                <a:spcPct val="105000"/>
              </a:lnSpc>
              <a:buNone/>
            </a:pPr>
            <a:r>
              <a:rPr lang="en-US" sz="1180" dirty="0">
                <a:solidFill>
                  <a:srgbClr val="1B2A4A"/>
                </a:solidFill>
                <a:latin typeface="Calibri" pitchFamily="34" charset="0"/>
                <a:ea typeface="Calibri" pitchFamily="34" charset="-122"/>
                <a:cs typeface="Calibri" pitchFamily="34" charset="-120"/>
              </a:rPr>
              <a:t>Provide decision support for flood-resilient transport planning</a:t>
            </a:r>
            <a:endParaRPr lang="en-US" sz="1180" dirty="0"/>
          </a:p>
        </p:txBody>
      </p:sp>
      <p:sp>
        <p:nvSpPr>
          <p:cNvPr id="68"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THE CORE CONTRIBUTION</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Overall Research Framework</a:t>
            </a:r>
            <a:endParaRPr lang="en-US" sz="2800" dirty="0"/>
          </a:p>
        </p:txBody>
      </p:sp>
      <p:sp>
        <p:nvSpPr>
          <p:cNvPr id="4" name="Shape 2"/>
          <p:cNvSpPr/>
          <p:nvPr/>
        </p:nvSpPr>
        <p:spPr>
          <a:xfrm>
            <a:off x="502920" y="1371600"/>
            <a:ext cx="5349240" cy="457200"/>
          </a:xfrm>
          <a:prstGeom prst="roundRect">
            <a:avLst>
              <a:gd name="adj" fmla="val 14000"/>
            </a:avLst>
          </a:prstGeom>
          <a:solidFill>
            <a:srgbClr val="F4F8FC"/>
          </a:solidFill>
          <a:ln w="12700">
            <a:solidFill>
              <a:srgbClr val="C9D6E4"/>
            </a:solidFill>
            <a:prstDash val="solid"/>
          </a:ln>
        </p:spPr>
      </p:sp>
      <p:sp>
        <p:nvSpPr>
          <p:cNvPr id="5" name="Text 3"/>
          <p:cNvSpPr/>
          <p:nvPr/>
        </p:nvSpPr>
        <p:spPr>
          <a:xfrm>
            <a:off x="576072" y="1371600"/>
            <a:ext cx="5202936"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Historical Flood Event</a:t>
            </a:r>
            <a:endParaRPr lang="en-US" sz="1400" dirty="0"/>
          </a:p>
        </p:txBody>
      </p:sp>
      <p:sp>
        <p:nvSpPr>
          <p:cNvPr id="6" name="Shape 4"/>
          <p:cNvSpPr/>
          <p:nvPr/>
        </p:nvSpPr>
        <p:spPr>
          <a:xfrm>
            <a:off x="3118104" y="1828800"/>
            <a:ext cx="118872" cy="136703"/>
          </a:xfrm>
          <a:prstGeom prst="downArrow">
            <a:avLst/>
          </a:prstGeom>
          <a:solidFill>
            <a:srgbClr val="8A93A0"/>
          </a:solidFill>
          <a:ln/>
        </p:spPr>
      </p:sp>
      <p:sp>
        <p:nvSpPr>
          <p:cNvPr id="7" name="Shape 5"/>
          <p:cNvSpPr/>
          <p:nvPr/>
        </p:nvSpPr>
        <p:spPr>
          <a:xfrm>
            <a:off x="502920" y="1975104"/>
            <a:ext cx="1722120" cy="502920"/>
          </a:xfrm>
          <a:prstGeom prst="roundRect">
            <a:avLst>
              <a:gd name="adj" fmla="val 10909"/>
            </a:avLst>
          </a:prstGeom>
          <a:solidFill>
            <a:srgbClr val="FFFFFF"/>
          </a:solidFill>
          <a:ln w="12700">
            <a:solidFill>
              <a:srgbClr val="C9D6E4"/>
            </a:solidFill>
            <a:prstDash val="solid"/>
          </a:ln>
        </p:spPr>
      </p:sp>
      <p:sp>
        <p:nvSpPr>
          <p:cNvPr id="8" name="Text 6"/>
          <p:cNvSpPr/>
          <p:nvPr/>
        </p:nvSpPr>
        <p:spPr>
          <a:xfrm>
            <a:off x="576072" y="1975104"/>
            <a:ext cx="1575816" cy="502920"/>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Road Network</a:t>
            </a:r>
            <a:endParaRPr lang="en-US" sz="1400" dirty="0"/>
          </a:p>
        </p:txBody>
      </p:sp>
      <p:sp>
        <p:nvSpPr>
          <p:cNvPr id="9" name="Shape 7"/>
          <p:cNvSpPr/>
          <p:nvPr/>
        </p:nvSpPr>
        <p:spPr>
          <a:xfrm>
            <a:off x="2316480" y="1975104"/>
            <a:ext cx="1722120" cy="502920"/>
          </a:xfrm>
          <a:prstGeom prst="roundRect">
            <a:avLst>
              <a:gd name="adj" fmla="val 10909"/>
            </a:avLst>
          </a:prstGeom>
          <a:solidFill>
            <a:srgbClr val="FFFFFF"/>
          </a:solidFill>
          <a:ln w="12700">
            <a:solidFill>
              <a:srgbClr val="C9D6E4"/>
            </a:solidFill>
            <a:prstDash val="solid"/>
          </a:ln>
        </p:spPr>
      </p:sp>
      <p:sp>
        <p:nvSpPr>
          <p:cNvPr id="10" name="Text 8"/>
          <p:cNvSpPr/>
          <p:nvPr/>
        </p:nvSpPr>
        <p:spPr>
          <a:xfrm>
            <a:off x="2389632" y="1975104"/>
            <a:ext cx="1575816" cy="502920"/>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Flood Raster</a:t>
            </a:r>
            <a:endParaRPr lang="en-US" sz="1400" dirty="0"/>
          </a:p>
        </p:txBody>
      </p:sp>
      <p:sp>
        <p:nvSpPr>
          <p:cNvPr id="11" name="Shape 9"/>
          <p:cNvSpPr/>
          <p:nvPr/>
        </p:nvSpPr>
        <p:spPr>
          <a:xfrm>
            <a:off x="4130040" y="1975104"/>
            <a:ext cx="1722120" cy="502920"/>
          </a:xfrm>
          <a:prstGeom prst="roundRect">
            <a:avLst>
              <a:gd name="adj" fmla="val 10909"/>
            </a:avLst>
          </a:prstGeom>
          <a:solidFill>
            <a:srgbClr val="FFFFFF"/>
          </a:solidFill>
          <a:ln w="12700">
            <a:solidFill>
              <a:srgbClr val="C9D6E4"/>
            </a:solidFill>
            <a:prstDash val="solid"/>
          </a:ln>
        </p:spPr>
      </p:sp>
      <p:sp>
        <p:nvSpPr>
          <p:cNvPr id="12" name="Text 10"/>
          <p:cNvSpPr/>
          <p:nvPr/>
        </p:nvSpPr>
        <p:spPr>
          <a:xfrm>
            <a:off x="4203192" y="1975104"/>
            <a:ext cx="1575816" cy="502920"/>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Travel Survey</a:t>
            </a:r>
            <a:endParaRPr lang="en-US" sz="1400" dirty="0"/>
          </a:p>
        </p:txBody>
      </p:sp>
      <p:sp>
        <p:nvSpPr>
          <p:cNvPr id="13" name="Shape 11"/>
          <p:cNvSpPr/>
          <p:nvPr/>
        </p:nvSpPr>
        <p:spPr>
          <a:xfrm>
            <a:off x="3118104" y="2478024"/>
            <a:ext cx="118872" cy="136703"/>
          </a:xfrm>
          <a:prstGeom prst="downArrow">
            <a:avLst/>
          </a:prstGeom>
          <a:solidFill>
            <a:srgbClr val="8A93A0"/>
          </a:solidFill>
          <a:ln/>
        </p:spPr>
      </p:sp>
      <p:sp>
        <p:nvSpPr>
          <p:cNvPr id="14" name="Shape 12"/>
          <p:cNvSpPr/>
          <p:nvPr/>
        </p:nvSpPr>
        <p:spPr>
          <a:xfrm>
            <a:off x="502920" y="2624328"/>
            <a:ext cx="5349240" cy="457200"/>
          </a:xfrm>
          <a:prstGeom prst="roundRect">
            <a:avLst>
              <a:gd name="adj" fmla="val 14000"/>
            </a:avLst>
          </a:prstGeom>
          <a:solidFill>
            <a:srgbClr val="1F4E8C"/>
          </a:solidFill>
          <a:ln/>
        </p:spPr>
      </p:sp>
      <p:sp>
        <p:nvSpPr>
          <p:cNvPr id="15" name="Text 13"/>
          <p:cNvSpPr/>
          <p:nvPr/>
        </p:nvSpPr>
        <p:spPr>
          <a:xfrm>
            <a:off x="576072" y="2624328"/>
            <a:ext cx="5202936" cy="457200"/>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GIS Processing</a:t>
            </a:r>
            <a:endParaRPr lang="en-US" sz="1250" dirty="0"/>
          </a:p>
        </p:txBody>
      </p:sp>
      <p:sp>
        <p:nvSpPr>
          <p:cNvPr id="16" name="Shape 14"/>
          <p:cNvSpPr/>
          <p:nvPr/>
        </p:nvSpPr>
        <p:spPr>
          <a:xfrm>
            <a:off x="3118104" y="3081528"/>
            <a:ext cx="118872" cy="136703"/>
          </a:xfrm>
          <a:prstGeom prst="downArrow">
            <a:avLst/>
          </a:prstGeom>
          <a:solidFill>
            <a:srgbClr val="8A93A0"/>
          </a:solidFill>
          <a:ln/>
        </p:spPr>
      </p:sp>
      <p:sp>
        <p:nvSpPr>
          <p:cNvPr id="17" name="Shape 15"/>
          <p:cNvSpPr/>
          <p:nvPr/>
        </p:nvSpPr>
        <p:spPr>
          <a:xfrm>
            <a:off x="502920" y="3227832"/>
            <a:ext cx="1268730" cy="658368"/>
          </a:xfrm>
          <a:prstGeom prst="roundRect">
            <a:avLst>
              <a:gd name="adj" fmla="val 9722"/>
            </a:avLst>
          </a:prstGeom>
          <a:solidFill>
            <a:srgbClr val="1F4E8C"/>
          </a:solidFill>
          <a:ln/>
        </p:spPr>
      </p:sp>
      <p:sp>
        <p:nvSpPr>
          <p:cNvPr id="18" name="Text 16"/>
          <p:cNvSpPr/>
          <p:nvPr/>
        </p:nvSpPr>
        <p:spPr>
          <a:xfrm>
            <a:off x="502920" y="3282696"/>
            <a:ext cx="1268730"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IF</a:t>
            </a:r>
            <a:endParaRPr lang="en-US" sz="1500" dirty="0"/>
          </a:p>
        </p:txBody>
      </p:sp>
      <p:sp>
        <p:nvSpPr>
          <p:cNvPr id="19" name="Text 17"/>
          <p:cNvSpPr/>
          <p:nvPr/>
        </p:nvSpPr>
        <p:spPr>
          <a:xfrm>
            <a:off x="539496" y="3575304"/>
            <a:ext cx="1195578" cy="292608"/>
          </a:xfrm>
          <a:prstGeom prst="rect">
            <a:avLst/>
          </a:prstGeom>
          <a:noFill/>
          <a:ln/>
        </p:spPr>
        <p:txBody>
          <a:bodyPr wrap="square" lIns="0" tIns="0" rIns="0" bIns="0" rtlCol="0" anchor="ctr"/>
          <a:lstStyle/>
          <a:p>
            <a:pPr marL="0" indent="0" algn="ctr">
              <a:lnSpc>
                <a:spcPct val="95000"/>
              </a:lnSpc>
              <a:buNone/>
            </a:pPr>
            <a:r>
              <a:rPr lang="en-US" sz="1200" dirty="0">
                <a:solidFill>
                  <a:srgbClr val="FFFFFF"/>
                </a:solidFill>
                <a:latin typeface="Calibri" pitchFamily="34" charset="0"/>
                <a:ea typeface="Calibri" pitchFamily="34" charset="-122"/>
                <a:cs typeface="Calibri" pitchFamily="34" charset="-120"/>
              </a:rPr>
              <a:t>Infrastructure Functionality</a:t>
            </a:r>
            <a:endParaRPr lang="en-US" sz="1200" dirty="0"/>
          </a:p>
        </p:txBody>
      </p:sp>
      <p:sp>
        <p:nvSpPr>
          <p:cNvPr id="20" name="Shape 18"/>
          <p:cNvSpPr/>
          <p:nvPr/>
        </p:nvSpPr>
        <p:spPr>
          <a:xfrm>
            <a:off x="1776222" y="3511296"/>
            <a:ext cx="105156" cy="91440"/>
          </a:xfrm>
          <a:prstGeom prst="rightArrow">
            <a:avLst/>
          </a:prstGeom>
          <a:solidFill>
            <a:srgbClr val="8A93A0"/>
          </a:solidFill>
          <a:ln/>
        </p:spPr>
      </p:sp>
      <p:sp>
        <p:nvSpPr>
          <p:cNvPr id="21" name="Shape 19"/>
          <p:cNvSpPr/>
          <p:nvPr/>
        </p:nvSpPr>
        <p:spPr>
          <a:xfrm>
            <a:off x="1863090" y="3227832"/>
            <a:ext cx="1268730" cy="658368"/>
          </a:xfrm>
          <a:prstGeom prst="roundRect">
            <a:avLst>
              <a:gd name="adj" fmla="val 9722"/>
            </a:avLst>
          </a:prstGeom>
          <a:solidFill>
            <a:srgbClr val="2E86C1"/>
          </a:solidFill>
          <a:ln/>
        </p:spPr>
      </p:sp>
      <p:sp>
        <p:nvSpPr>
          <p:cNvPr id="22" name="Text 20"/>
          <p:cNvSpPr/>
          <p:nvPr/>
        </p:nvSpPr>
        <p:spPr>
          <a:xfrm>
            <a:off x="1863090" y="3282696"/>
            <a:ext cx="1268730"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AI</a:t>
            </a:r>
            <a:endParaRPr lang="en-US" sz="1500" dirty="0"/>
          </a:p>
        </p:txBody>
      </p:sp>
      <p:sp>
        <p:nvSpPr>
          <p:cNvPr id="23" name="Text 21"/>
          <p:cNvSpPr/>
          <p:nvPr/>
        </p:nvSpPr>
        <p:spPr>
          <a:xfrm>
            <a:off x="1899666" y="3575304"/>
            <a:ext cx="1195578" cy="292608"/>
          </a:xfrm>
          <a:prstGeom prst="rect">
            <a:avLst/>
          </a:prstGeom>
          <a:noFill/>
          <a:ln/>
        </p:spPr>
        <p:txBody>
          <a:bodyPr wrap="square" lIns="0" tIns="0" rIns="0" bIns="0" rtlCol="0" anchor="ctr"/>
          <a:lstStyle/>
          <a:p>
            <a:pPr marL="0" indent="0" algn="ctr">
              <a:lnSpc>
                <a:spcPct val="95000"/>
              </a:lnSpc>
              <a:buNone/>
            </a:pPr>
            <a:r>
              <a:rPr lang="en-US" sz="1200" dirty="0">
                <a:solidFill>
                  <a:srgbClr val="FFFFFF"/>
                </a:solidFill>
                <a:latin typeface="Calibri" pitchFamily="34" charset="0"/>
                <a:ea typeface="Calibri" pitchFamily="34" charset="-122"/>
                <a:cs typeface="Calibri" pitchFamily="34" charset="-120"/>
              </a:rPr>
              <a:t>Accessibility Index</a:t>
            </a:r>
            <a:endParaRPr lang="en-US" sz="1200" dirty="0"/>
          </a:p>
        </p:txBody>
      </p:sp>
      <p:sp>
        <p:nvSpPr>
          <p:cNvPr id="24" name="Shape 22"/>
          <p:cNvSpPr/>
          <p:nvPr/>
        </p:nvSpPr>
        <p:spPr>
          <a:xfrm>
            <a:off x="3136392" y="3511296"/>
            <a:ext cx="105156" cy="91440"/>
          </a:xfrm>
          <a:prstGeom prst="rightArrow">
            <a:avLst/>
          </a:prstGeom>
          <a:solidFill>
            <a:srgbClr val="8A93A0"/>
          </a:solidFill>
          <a:ln/>
        </p:spPr>
      </p:sp>
      <p:sp>
        <p:nvSpPr>
          <p:cNvPr id="25" name="Shape 23"/>
          <p:cNvSpPr/>
          <p:nvPr/>
        </p:nvSpPr>
        <p:spPr>
          <a:xfrm>
            <a:off x="3223260" y="3227832"/>
            <a:ext cx="1268730" cy="658368"/>
          </a:xfrm>
          <a:prstGeom prst="roundRect">
            <a:avLst>
              <a:gd name="adj" fmla="val 9722"/>
            </a:avLst>
          </a:prstGeom>
          <a:solidFill>
            <a:srgbClr val="5FA8D3"/>
          </a:solidFill>
          <a:ln/>
        </p:spPr>
      </p:sp>
      <p:sp>
        <p:nvSpPr>
          <p:cNvPr id="26" name="Text 24"/>
          <p:cNvSpPr/>
          <p:nvPr/>
        </p:nvSpPr>
        <p:spPr>
          <a:xfrm>
            <a:off x="3223260" y="3282696"/>
            <a:ext cx="1268730"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BA</a:t>
            </a:r>
            <a:endParaRPr lang="en-US" sz="1500" dirty="0"/>
          </a:p>
        </p:txBody>
      </p:sp>
      <p:sp>
        <p:nvSpPr>
          <p:cNvPr id="27" name="Text 25"/>
          <p:cNvSpPr/>
          <p:nvPr/>
        </p:nvSpPr>
        <p:spPr>
          <a:xfrm>
            <a:off x="3259836" y="3575304"/>
            <a:ext cx="1195578" cy="292608"/>
          </a:xfrm>
          <a:prstGeom prst="rect">
            <a:avLst/>
          </a:prstGeom>
          <a:noFill/>
          <a:ln/>
        </p:spPr>
        <p:txBody>
          <a:bodyPr wrap="square" lIns="0" tIns="0" rIns="0" bIns="0" rtlCol="0" anchor="ctr"/>
          <a:lstStyle/>
          <a:p>
            <a:pPr marL="0" indent="0" algn="ctr">
              <a:lnSpc>
                <a:spcPct val="95000"/>
              </a:lnSpc>
              <a:buNone/>
            </a:pPr>
            <a:r>
              <a:rPr lang="en-US" sz="1200" dirty="0">
                <a:solidFill>
                  <a:srgbClr val="FFFFFF"/>
                </a:solidFill>
                <a:latin typeface="Calibri" pitchFamily="34" charset="0"/>
                <a:ea typeface="Calibri" pitchFamily="34" charset="-122"/>
                <a:cs typeface="Calibri" pitchFamily="34" charset="-120"/>
              </a:rPr>
              <a:t>Behavioural Adaptation</a:t>
            </a:r>
            <a:endParaRPr lang="en-US" sz="1200" dirty="0"/>
          </a:p>
        </p:txBody>
      </p:sp>
      <p:sp>
        <p:nvSpPr>
          <p:cNvPr id="28" name="Shape 26"/>
          <p:cNvSpPr/>
          <p:nvPr/>
        </p:nvSpPr>
        <p:spPr>
          <a:xfrm>
            <a:off x="4496562" y="3511296"/>
            <a:ext cx="105156" cy="91440"/>
          </a:xfrm>
          <a:prstGeom prst="rightArrow">
            <a:avLst/>
          </a:prstGeom>
          <a:solidFill>
            <a:srgbClr val="8A93A0"/>
          </a:solidFill>
          <a:ln/>
        </p:spPr>
      </p:sp>
      <p:sp>
        <p:nvSpPr>
          <p:cNvPr id="29" name="Shape 27"/>
          <p:cNvSpPr/>
          <p:nvPr/>
        </p:nvSpPr>
        <p:spPr>
          <a:xfrm>
            <a:off x="4583430" y="3227832"/>
            <a:ext cx="1268730" cy="658368"/>
          </a:xfrm>
          <a:prstGeom prst="roundRect">
            <a:avLst>
              <a:gd name="adj" fmla="val 9722"/>
            </a:avLst>
          </a:prstGeom>
          <a:solidFill>
            <a:srgbClr val="12253B"/>
          </a:solidFill>
          <a:ln/>
        </p:spPr>
      </p:sp>
      <p:sp>
        <p:nvSpPr>
          <p:cNvPr id="30" name="Text 28"/>
          <p:cNvSpPr/>
          <p:nvPr/>
        </p:nvSpPr>
        <p:spPr>
          <a:xfrm>
            <a:off x="4583430" y="3282696"/>
            <a:ext cx="1268730"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TRI</a:t>
            </a:r>
            <a:endParaRPr lang="en-US" sz="1500" dirty="0"/>
          </a:p>
        </p:txBody>
      </p:sp>
      <p:sp>
        <p:nvSpPr>
          <p:cNvPr id="31" name="Text 29"/>
          <p:cNvSpPr/>
          <p:nvPr/>
        </p:nvSpPr>
        <p:spPr>
          <a:xfrm>
            <a:off x="4620006" y="3575304"/>
            <a:ext cx="1195578" cy="292608"/>
          </a:xfrm>
          <a:prstGeom prst="rect">
            <a:avLst/>
          </a:prstGeom>
          <a:noFill/>
          <a:ln/>
        </p:spPr>
        <p:txBody>
          <a:bodyPr wrap="square" lIns="0" tIns="0" rIns="0" bIns="0" rtlCol="0" anchor="ctr"/>
          <a:lstStyle/>
          <a:p>
            <a:pPr marL="0" indent="0" algn="ctr">
              <a:lnSpc>
                <a:spcPct val="95000"/>
              </a:lnSpc>
              <a:buNone/>
            </a:pPr>
            <a:r>
              <a:rPr lang="en-US" sz="1200" dirty="0">
                <a:solidFill>
                  <a:srgbClr val="FFFFFF"/>
                </a:solidFill>
                <a:latin typeface="Calibri" pitchFamily="34" charset="0"/>
                <a:ea typeface="Calibri" pitchFamily="34" charset="-122"/>
                <a:cs typeface="Calibri" pitchFamily="34" charset="-120"/>
              </a:rPr>
              <a:t>Historical TRI</a:t>
            </a:r>
            <a:endParaRPr lang="en-US" sz="1200" dirty="0"/>
          </a:p>
        </p:txBody>
      </p:sp>
      <p:sp>
        <p:nvSpPr>
          <p:cNvPr id="32" name="Shape 30"/>
          <p:cNvSpPr/>
          <p:nvPr/>
        </p:nvSpPr>
        <p:spPr>
          <a:xfrm>
            <a:off x="3118104" y="3886200"/>
            <a:ext cx="118872" cy="136703"/>
          </a:xfrm>
          <a:prstGeom prst="downArrow">
            <a:avLst/>
          </a:prstGeom>
          <a:solidFill>
            <a:srgbClr val="8A93A0"/>
          </a:solidFill>
          <a:ln/>
        </p:spPr>
      </p:sp>
      <p:sp>
        <p:nvSpPr>
          <p:cNvPr id="33" name="Shape 31"/>
          <p:cNvSpPr/>
          <p:nvPr/>
        </p:nvSpPr>
        <p:spPr>
          <a:xfrm>
            <a:off x="502920" y="4032504"/>
            <a:ext cx="5349240" cy="502920"/>
          </a:xfrm>
          <a:prstGeom prst="roundRect">
            <a:avLst>
              <a:gd name="adj" fmla="val 12727"/>
            </a:avLst>
          </a:prstGeom>
          <a:solidFill>
            <a:srgbClr val="1B2A4A"/>
          </a:solidFill>
          <a:ln/>
        </p:spPr>
      </p:sp>
      <p:sp>
        <p:nvSpPr>
          <p:cNvPr id="34" name="Shape 32"/>
          <p:cNvSpPr/>
          <p:nvPr/>
        </p:nvSpPr>
        <p:spPr>
          <a:xfrm>
            <a:off x="594360" y="4114800"/>
            <a:ext cx="338328" cy="338328"/>
          </a:xfrm>
          <a:prstGeom prst="ellipse">
            <a:avLst/>
          </a:prstGeom>
          <a:solidFill>
            <a:srgbClr val="2C3E5E"/>
          </a:solidFill>
          <a:ln/>
        </p:spPr>
      </p:sp>
      <p:pic>
        <p:nvPicPr>
          <p:cNvPr id="35" name="Image 0" descr="/home/claude/tr_pptx/icons/database_white.png"/>
          <p:cNvPicPr>
            <a:picLocks noChangeAspect="1"/>
          </p:cNvPicPr>
          <p:nvPr/>
        </p:nvPicPr>
        <p:blipFill>
          <a:blip r:embed="rId3"/>
          <a:stretch>
            <a:fillRect/>
          </a:stretch>
        </p:blipFill>
        <p:spPr>
          <a:xfrm>
            <a:off x="668792" y="4189232"/>
            <a:ext cx="189464" cy="189464"/>
          </a:xfrm>
          <a:prstGeom prst="rect">
            <a:avLst/>
          </a:prstGeom>
        </p:spPr>
      </p:pic>
      <p:sp>
        <p:nvSpPr>
          <p:cNvPr id="36" name="Text 33"/>
          <p:cNvSpPr/>
          <p:nvPr/>
        </p:nvSpPr>
        <p:spPr>
          <a:xfrm>
            <a:off x="1051560" y="4032504"/>
            <a:ext cx="470916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Historical Database</a:t>
            </a:r>
            <a:endParaRPr lang="en-US" sz="1250" dirty="0"/>
          </a:p>
        </p:txBody>
      </p:sp>
      <p:sp>
        <p:nvSpPr>
          <p:cNvPr id="37" name="Shape 34"/>
          <p:cNvSpPr/>
          <p:nvPr/>
        </p:nvSpPr>
        <p:spPr>
          <a:xfrm>
            <a:off x="5852160" y="4283964"/>
            <a:ext cx="502920" cy="0"/>
          </a:xfrm>
          <a:prstGeom prst="line">
            <a:avLst/>
          </a:prstGeom>
          <a:noFill/>
          <a:ln w="19050">
            <a:solidFill>
              <a:srgbClr val="8A93A0"/>
            </a:solidFill>
            <a:prstDash val="solid"/>
            <a:tailEnd type="triangle"/>
          </a:ln>
        </p:spPr>
      </p:sp>
      <p:sp>
        <p:nvSpPr>
          <p:cNvPr id="38" name="Shape 35"/>
          <p:cNvSpPr/>
          <p:nvPr/>
        </p:nvSpPr>
        <p:spPr>
          <a:xfrm>
            <a:off x="6355080" y="1371600"/>
            <a:ext cx="5349240" cy="566928"/>
          </a:xfrm>
          <a:prstGeom prst="roundRect">
            <a:avLst>
              <a:gd name="adj" fmla="val 12903"/>
            </a:avLst>
          </a:prstGeom>
          <a:solidFill>
            <a:srgbClr val="C9932F"/>
          </a:solidFill>
          <a:ln/>
        </p:spPr>
      </p:sp>
      <p:sp>
        <p:nvSpPr>
          <p:cNvPr id="39" name="Shape 36"/>
          <p:cNvSpPr/>
          <p:nvPr/>
        </p:nvSpPr>
        <p:spPr>
          <a:xfrm>
            <a:off x="6446520" y="1453896"/>
            <a:ext cx="402336" cy="402336"/>
          </a:xfrm>
          <a:prstGeom prst="ellipse">
            <a:avLst/>
          </a:prstGeom>
          <a:solidFill>
            <a:srgbClr val="AD7A1F"/>
          </a:solidFill>
          <a:ln/>
        </p:spPr>
      </p:sp>
      <p:pic>
        <p:nvPicPr>
          <p:cNvPr id="40" name="Image 1" descr="/home/claude/tr_pptx/icons/brain_white.png"/>
          <p:cNvPicPr>
            <a:picLocks noChangeAspect="1"/>
          </p:cNvPicPr>
          <p:nvPr/>
        </p:nvPicPr>
        <p:blipFill>
          <a:blip r:embed="rId4"/>
          <a:stretch>
            <a:fillRect/>
          </a:stretch>
        </p:blipFill>
        <p:spPr>
          <a:xfrm>
            <a:off x="6526987" y="1534363"/>
            <a:ext cx="241402" cy="241402"/>
          </a:xfrm>
          <a:prstGeom prst="rect">
            <a:avLst/>
          </a:prstGeom>
        </p:spPr>
      </p:pic>
      <p:sp>
        <p:nvSpPr>
          <p:cNvPr id="41" name="Text 37"/>
          <p:cNvSpPr/>
          <p:nvPr/>
        </p:nvSpPr>
        <p:spPr>
          <a:xfrm>
            <a:off x="6976872" y="1371600"/>
            <a:ext cx="4636008" cy="56692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Machine Learning</a:t>
            </a:r>
            <a:endParaRPr lang="en-US" sz="1350" dirty="0"/>
          </a:p>
        </p:txBody>
      </p:sp>
      <p:sp>
        <p:nvSpPr>
          <p:cNvPr id="42" name="Shape 38"/>
          <p:cNvSpPr/>
          <p:nvPr/>
        </p:nvSpPr>
        <p:spPr>
          <a:xfrm>
            <a:off x="8970264" y="1938528"/>
            <a:ext cx="118872" cy="136703"/>
          </a:xfrm>
          <a:prstGeom prst="downArrow">
            <a:avLst/>
          </a:prstGeom>
          <a:solidFill>
            <a:srgbClr val="8A93A0"/>
          </a:solidFill>
          <a:ln/>
        </p:spPr>
      </p:sp>
      <p:sp>
        <p:nvSpPr>
          <p:cNvPr id="43" name="Shape 39"/>
          <p:cNvSpPr/>
          <p:nvPr/>
        </p:nvSpPr>
        <p:spPr>
          <a:xfrm>
            <a:off x="6355080" y="2084832"/>
            <a:ext cx="5349240" cy="457200"/>
          </a:xfrm>
          <a:prstGeom prst="roundRect">
            <a:avLst>
              <a:gd name="adj" fmla="val 14000"/>
            </a:avLst>
          </a:prstGeom>
          <a:solidFill>
            <a:srgbClr val="F4F8FC"/>
          </a:solidFill>
          <a:ln w="12700">
            <a:solidFill>
              <a:srgbClr val="C9D6E4"/>
            </a:solidFill>
            <a:prstDash val="solid"/>
          </a:ln>
        </p:spPr>
      </p:sp>
      <p:sp>
        <p:nvSpPr>
          <p:cNvPr id="44" name="Text 40"/>
          <p:cNvSpPr/>
          <p:nvPr/>
        </p:nvSpPr>
        <p:spPr>
          <a:xfrm>
            <a:off x="6428232" y="2084832"/>
            <a:ext cx="5202936" cy="457200"/>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Future Flood Scenario</a:t>
            </a:r>
            <a:endParaRPr lang="en-US" sz="1400" dirty="0"/>
          </a:p>
        </p:txBody>
      </p:sp>
      <p:sp>
        <p:nvSpPr>
          <p:cNvPr id="45" name="Shape 41"/>
          <p:cNvSpPr/>
          <p:nvPr/>
        </p:nvSpPr>
        <p:spPr>
          <a:xfrm>
            <a:off x="8970264" y="2542032"/>
            <a:ext cx="118872" cy="136703"/>
          </a:xfrm>
          <a:prstGeom prst="downArrow">
            <a:avLst/>
          </a:prstGeom>
          <a:solidFill>
            <a:srgbClr val="8A93A0"/>
          </a:solidFill>
          <a:ln/>
        </p:spPr>
      </p:sp>
      <p:sp>
        <p:nvSpPr>
          <p:cNvPr id="46" name="Shape 42"/>
          <p:cNvSpPr/>
          <p:nvPr/>
        </p:nvSpPr>
        <p:spPr>
          <a:xfrm>
            <a:off x="6355080" y="2688336"/>
            <a:ext cx="2606040" cy="502920"/>
          </a:xfrm>
          <a:prstGeom prst="roundRect">
            <a:avLst>
              <a:gd name="adj" fmla="val 10909"/>
            </a:avLst>
          </a:prstGeom>
          <a:solidFill>
            <a:srgbClr val="FFFFFF"/>
          </a:solidFill>
          <a:ln w="12700">
            <a:solidFill>
              <a:srgbClr val="C9D6E4"/>
            </a:solidFill>
            <a:prstDash val="solid"/>
          </a:ln>
        </p:spPr>
      </p:sp>
      <p:sp>
        <p:nvSpPr>
          <p:cNvPr id="47" name="Text 43"/>
          <p:cNvSpPr/>
          <p:nvPr/>
        </p:nvSpPr>
        <p:spPr>
          <a:xfrm>
            <a:off x="6428232" y="2688336"/>
            <a:ext cx="2459736" cy="502920"/>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Predicted Behaviour</a:t>
            </a:r>
            <a:endParaRPr lang="en-US" sz="1400" dirty="0"/>
          </a:p>
        </p:txBody>
      </p:sp>
      <p:sp>
        <p:nvSpPr>
          <p:cNvPr id="48" name="Shape 44"/>
          <p:cNvSpPr/>
          <p:nvPr/>
        </p:nvSpPr>
        <p:spPr>
          <a:xfrm>
            <a:off x="9098280" y="2688336"/>
            <a:ext cx="2606040" cy="502920"/>
          </a:xfrm>
          <a:prstGeom prst="roundRect">
            <a:avLst>
              <a:gd name="adj" fmla="val 10909"/>
            </a:avLst>
          </a:prstGeom>
          <a:solidFill>
            <a:srgbClr val="5FA8D3"/>
          </a:solidFill>
          <a:ln/>
        </p:spPr>
      </p:sp>
      <p:sp>
        <p:nvSpPr>
          <p:cNvPr id="49" name="Text 45"/>
          <p:cNvSpPr/>
          <p:nvPr/>
        </p:nvSpPr>
        <p:spPr>
          <a:xfrm>
            <a:off x="9171432" y="2688336"/>
            <a:ext cx="2459736" cy="50292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Predicted BA</a:t>
            </a:r>
            <a:endParaRPr lang="en-US" sz="1400" dirty="0"/>
          </a:p>
        </p:txBody>
      </p:sp>
      <p:sp>
        <p:nvSpPr>
          <p:cNvPr id="50" name="Shape 46"/>
          <p:cNvSpPr/>
          <p:nvPr/>
        </p:nvSpPr>
        <p:spPr>
          <a:xfrm>
            <a:off x="8970264" y="3191256"/>
            <a:ext cx="118872" cy="136703"/>
          </a:xfrm>
          <a:prstGeom prst="downArrow">
            <a:avLst/>
          </a:prstGeom>
          <a:solidFill>
            <a:srgbClr val="8A93A0"/>
          </a:solidFill>
          <a:ln/>
        </p:spPr>
      </p:sp>
      <p:sp>
        <p:nvSpPr>
          <p:cNvPr id="51" name="Shape 47"/>
          <p:cNvSpPr/>
          <p:nvPr/>
        </p:nvSpPr>
        <p:spPr>
          <a:xfrm>
            <a:off x="6355080" y="3337560"/>
            <a:ext cx="5349240" cy="502920"/>
          </a:xfrm>
          <a:prstGeom prst="roundRect">
            <a:avLst>
              <a:gd name="adj" fmla="val 12727"/>
            </a:avLst>
          </a:prstGeom>
          <a:solidFill>
            <a:srgbClr val="12253B"/>
          </a:solidFill>
          <a:ln/>
        </p:spPr>
      </p:sp>
      <p:sp>
        <p:nvSpPr>
          <p:cNvPr id="52" name="Text 48"/>
          <p:cNvSpPr/>
          <p:nvPr/>
        </p:nvSpPr>
        <p:spPr>
          <a:xfrm>
            <a:off x="6428232" y="3337560"/>
            <a:ext cx="5202936" cy="502920"/>
          </a:xfrm>
          <a:prstGeom prst="rect">
            <a:avLst/>
          </a:prstGeom>
          <a:noFill/>
          <a:ln/>
        </p:spPr>
        <p:txBody>
          <a:bodyPr wrap="square" lIns="0" tIns="0" rIns="0" bIns="0"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Future TRI</a:t>
            </a:r>
            <a:endParaRPr lang="en-US" sz="1300" dirty="0"/>
          </a:p>
        </p:txBody>
      </p:sp>
      <p:sp>
        <p:nvSpPr>
          <p:cNvPr id="53" name="Shape 49"/>
          <p:cNvSpPr/>
          <p:nvPr/>
        </p:nvSpPr>
        <p:spPr>
          <a:xfrm>
            <a:off x="8970264" y="3840480"/>
            <a:ext cx="118872" cy="136703"/>
          </a:xfrm>
          <a:prstGeom prst="downArrow">
            <a:avLst/>
          </a:prstGeom>
          <a:solidFill>
            <a:srgbClr val="8A93A0"/>
          </a:solidFill>
          <a:ln/>
        </p:spPr>
      </p:sp>
      <p:sp>
        <p:nvSpPr>
          <p:cNvPr id="54" name="Shape 50"/>
          <p:cNvSpPr/>
          <p:nvPr/>
        </p:nvSpPr>
        <p:spPr>
          <a:xfrm>
            <a:off x="6355080" y="3986784"/>
            <a:ext cx="5349240" cy="548640"/>
          </a:xfrm>
          <a:prstGeom prst="roundRect">
            <a:avLst>
              <a:gd name="adj" fmla="val 13333"/>
            </a:avLst>
          </a:prstGeom>
          <a:solidFill>
            <a:srgbClr val="C9932F"/>
          </a:solidFill>
          <a:ln/>
          <a:effectLst>
            <a:outerShdw blurRad="76200" dist="25400" dir="5400000" algn="bl" rotWithShape="0">
              <a:srgbClr val="9AA7B5">
                <a:alpha val="28000"/>
              </a:srgbClr>
            </a:outerShdw>
          </a:effectLst>
        </p:spPr>
      </p:sp>
      <p:sp>
        <p:nvSpPr>
          <p:cNvPr id="55" name="Shape 51"/>
          <p:cNvSpPr/>
          <p:nvPr/>
        </p:nvSpPr>
        <p:spPr>
          <a:xfrm>
            <a:off x="6446520" y="4069080"/>
            <a:ext cx="384048" cy="384048"/>
          </a:xfrm>
          <a:prstGeom prst="ellipse">
            <a:avLst/>
          </a:prstGeom>
          <a:solidFill>
            <a:srgbClr val="AD7A1F"/>
          </a:solidFill>
          <a:ln/>
        </p:spPr>
      </p:sp>
      <p:pic>
        <p:nvPicPr>
          <p:cNvPr id="56" name="Image 2" descr="/home/claude/tr_pptx/icons/decision_white.png"/>
          <p:cNvPicPr>
            <a:picLocks noChangeAspect="1"/>
          </p:cNvPicPr>
          <p:nvPr/>
        </p:nvPicPr>
        <p:blipFill>
          <a:blip r:embed="rId5"/>
          <a:stretch>
            <a:fillRect/>
          </a:stretch>
        </p:blipFill>
        <p:spPr>
          <a:xfrm>
            <a:off x="6523330" y="4145890"/>
            <a:ext cx="230429" cy="230429"/>
          </a:xfrm>
          <a:prstGeom prst="rect">
            <a:avLst/>
          </a:prstGeom>
        </p:spPr>
      </p:pic>
      <p:sp>
        <p:nvSpPr>
          <p:cNvPr id="57" name="Text 52"/>
          <p:cNvSpPr/>
          <p:nvPr/>
        </p:nvSpPr>
        <p:spPr>
          <a:xfrm>
            <a:off x="6958584" y="3986784"/>
            <a:ext cx="4654296" cy="5486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Decision Support</a:t>
            </a:r>
            <a:endParaRPr lang="en-US" sz="1350" dirty="0"/>
          </a:p>
        </p:txBody>
      </p:sp>
      <p:sp>
        <p:nvSpPr>
          <p:cNvPr id="58" name="Shape 53"/>
          <p:cNvSpPr/>
          <p:nvPr/>
        </p:nvSpPr>
        <p:spPr>
          <a:xfrm>
            <a:off x="502920" y="6355080"/>
            <a:ext cx="146304" cy="146304"/>
          </a:xfrm>
          <a:prstGeom prst="ellipse">
            <a:avLst/>
          </a:prstGeom>
          <a:solidFill>
            <a:srgbClr val="1F4E8C"/>
          </a:solidFill>
          <a:ln/>
        </p:spPr>
      </p:sp>
      <p:sp>
        <p:nvSpPr>
          <p:cNvPr id="59" name="Text 54"/>
          <p:cNvSpPr/>
          <p:nvPr/>
        </p:nvSpPr>
        <p:spPr>
          <a:xfrm>
            <a:off x="704088" y="6300216"/>
            <a:ext cx="1188720" cy="256032"/>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IF</a:t>
            </a:r>
            <a:endParaRPr lang="en-US" sz="1000" dirty="0"/>
          </a:p>
        </p:txBody>
      </p:sp>
      <p:sp>
        <p:nvSpPr>
          <p:cNvPr id="60" name="Shape 55"/>
          <p:cNvSpPr/>
          <p:nvPr/>
        </p:nvSpPr>
        <p:spPr>
          <a:xfrm>
            <a:off x="1664208" y="6355080"/>
            <a:ext cx="146304" cy="146304"/>
          </a:xfrm>
          <a:prstGeom prst="ellipse">
            <a:avLst/>
          </a:prstGeom>
          <a:solidFill>
            <a:srgbClr val="2E86C1"/>
          </a:solidFill>
          <a:ln/>
        </p:spPr>
      </p:sp>
      <p:sp>
        <p:nvSpPr>
          <p:cNvPr id="61" name="Text 56"/>
          <p:cNvSpPr/>
          <p:nvPr/>
        </p:nvSpPr>
        <p:spPr>
          <a:xfrm>
            <a:off x="1865376" y="6300216"/>
            <a:ext cx="1188720" cy="256032"/>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AI</a:t>
            </a:r>
            <a:endParaRPr lang="en-US" sz="1000" dirty="0"/>
          </a:p>
        </p:txBody>
      </p:sp>
      <p:sp>
        <p:nvSpPr>
          <p:cNvPr id="62" name="Shape 57"/>
          <p:cNvSpPr/>
          <p:nvPr/>
        </p:nvSpPr>
        <p:spPr>
          <a:xfrm>
            <a:off x="2825496" y="6355080"/>
            <a:ext cx="146304" cy="146304"/>
          </a:xfrm>
          <a:prstGeom prst="ellipse">
            <a:avLst/>
          </a:prstGeom>
          <a:solidFill>
            <a:srgbClr val="5FA8D3"/>
          </a:solidFill>
          <a:ln/>
        </p:spPr>
      </p:sp>
      <p:sp>
        <p:nvSpPr>
          <p:cNvPr id="63" name="Text 58"/>
          <p:cNvSpPr/>
          <p:nvPr/>
        </p:nvSpPr>
        <p:spPr>
          <a:xfrm>
            <a:off x="3026664" y="6300216"/>
            <a:ext cx="1188720" cy="256032"/>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BA</a:t>
            </a:r>
            <a:endParaRPr lang="en-US" sz="1000" dirty="0"/>
          </a:p>
        </p:txBody>
      </p:sp>
      <p:sp>
        <p:nvSpPr>
          <p:cNvPr id="64" name="Shape 59"/>
          <p:cNvSpPr/>
          <p:nvPr/>
        </p:nvSpPr>
        <p:spPr>
          <a:xfrm>
            <a:off x="3986784" y="6355080"/>
            <a:ext cx="146304" cy="146304"/>
          </a:xfrm>
          <a:prstGeom prst="ellipse">
            <a:avLst/>
          </a:prstGeom>
          <a:solidFill>
            <a:srgbClr val="12253B"/>
          </a:solidFill>
          <a:ln/>
        </p:spPr>
      </p:sp>
      <p:sp>
        <p:nvSpPr>
          <p:cNvPr id="65" name="Text 60"/>
          <p:cNvSpPr/>
          <p:nvPr/>
        </p:nvSpPr>
        <p:spPr>
          <a:xfrm>
            <a:off x="4187952" y="6300216"/>
            <a:ext cx="1188720" cy="256032"/>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TRI</a:t>
            </a:r>
            <a:endParaRPr lang="en-US" sz="1000" dirty="0"/>
          </a:p>
        </p:txBody>
      </p:sp>
      <p:sp>
        <p:nvSpPr>
          <p:cNvPr id="66" name="Shape 61"/>
          <p:cNvSpPr/>
          <p:nvPr/>
        </p:nvSpPr>
        <p:spPr>
          <a:xfrm>
            <a:off x="5148072" y="6355080"/>
            <a:ext cx="146304" cy="146304"/>
          </a:xfrm>
          <a:prstGeom prst="ellipse">
            <a:avLst/>
          </a:prstGeom>
          <a:solidFill>
            <a:srgbClr val="C9932F"/>
          </a:solidFill>
          <a:ln/>
        </p:spPr>
      </p:sp>
      <p:sp>
        <p:nvSpPr>
          <p:cNvPr id="67" name="Text 62"/>
          <p:cNvSpPr/>
          <p:nvPr/>
        </p:nvSpPr>
        <p:spPr>
          <a:xfrm>
            <a:off x="5349240" y="6300216"/>
            <a:ext cx="1188720" cy="256032"/>
          </a:xfrm>
          <a:prstGeom prst="rect">
            <a:avLst/>
          </a:prstGeom>
          <a:noFill/>
          <a:ln/>
        </p:spPr>
        <p:txBody>
          <a:bodyPr wrap="square" lIns="0" tIns="0" rIns="0" bIns="0" rtlCol="0" anchor="ctr"/>
          <a:lstStyle/>
          <a:p>
            <a:pPr marL="0" indent="0">
              <a:buNone/>
            </a:pPr>
            <a:r>
              <a:rPr lang="en-US" sz="1000" dirty="0">
                <a:solidFill>
                  <a:srgbClr val="5B6675"/>
                </a:solidFill>
                <a:latin typeface="Calibri" pitchFamily="34" charset="0"/>
                <a:ea typeface="Calibri" pitchFamily="34" charset="-122"/>
                <a:cs typeface="Calibri" pitchFamily="34" charset="-120"/>
              </a:rPr>
              <a:t>ML / Decision</a:t>
            </a:r>
            <a:endParaRPr lang="en-US" sz="1000" dirty="0"/>
          </a:p>
        </p:txBody>
      </p:sp>
      <p:sp>
        <p:nvSpPr>
          <p:cNvPr id="68"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DATA FOUNDATION</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Research Datasets</a:t>
            </a:r>
            <a:endParaRPr lang="en-US" sz="2800" dirty="0"/>
          </a:p>
        </p:txBody>
      </p:sp>
      <p:sp>
        <p:nvSpPr>
          <p:cNvPr id="4" name="Shape 2"/>
          <p:cNvSpPr/>
          <p:nvPr/>
        </p:nvSpPr>
        <p:spPr>
          <a:xfrm>
            <a:off x="502920" y="1417320"/>
            <a:ext cx="3611880" cy="594360"/>
          </a:xfrm>
          <a:prstGeom prst="roundRect">
            <a:avLst>
              <a:gd name="adj" fmla="val 12308"/>
            </a:avLst>
          </a:prstGeom>
          <a:solidFill>
            <a:srgbClr val="1F4E8C"/>
          </a:solidFill>
          <a:ln/>
        </p:spPr>
      </p:sp>
      <p:sp>
        <p:nvSpPr>
          <p:cNvPr id="5" name="Shape 3"/>
          <p:cNvSpPr/>
          <p:nvPr/>
        </p:nvSpPr>
        <p:spPr>
          <a:xfrm>
            <a:off x="612648" y="1508760"/>
            <a:ext cx="411480" cy="411480"/>
          </a:xfrm>
          <a:prstGeom prst="ellipse">
            <a:avLst/>
          </a:prstGeom>
          <a:solidFill>
            <a:srgbClr val="FFFFFF">
              <a:alpha val="22000"/>
            </a:srgbClr>
          </a:solidFill>
          <a:ln/>
        </p:spPr>
      </p:sp>
      <p:pic>
        <p:nvPicPr>
          <p:cNvPr id="6" name="Image 0" descr="/home/claude/tr_pptx/icons/gis_white.png"/>
          <p:cNvPicPr>
            <a:picLocks noChangeAspect="1"/>
          </p:cNvPicPr>
          <p:nvPr/>
        </p:nvPicPr>
        <p:blipFill>
          <a:blip r:embed="rId3"/>
          <a:stretch>
            <a:fillRect/>
          </a:stretch>
        </p:blipFill>
        <p:spPr>
          <a:xfrm>
            <a:off x="694944" y="1591056"/>
            <a:ext cx="246888" cy="246888"/>
          </a:xfrm>
          <a:prstGeom prst="rect">
            <a:avLst/>
          </a:prstGeom>
        </p:spPr>
      </p:pic>
      <p:sp>
        <p:nvSpPr>
          <p:cNvPr id="7" name="Text 4"/>
          <p:cNvSpPr/>
          <p:nvPr/>
        </p:nvSpPr>
        <p:spPr>
          <a:xfrm>
            <a:off x="1143000" y="1417320"/>
            <a:ext cx="2880360" cy="5943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GIS Data</a:t>
            </a:r>
            <a:endParaRPr lang="en-US" sz="1500" dirty="0"/>
          </a:p>
        </p:txBody>
      </p:sp>
      <p:sp>
        <p:nvSpPr>
          <p:cNvPr id="8" name="Shape 5"/>
          <p:cNvSpPr/>
          <p:nvPr/>
        </p:nvSpPr>
        <p:spPr>
          <a:xfrm>
            <a:off x="502920" y="2194560"/>
            <a:ext cx="3611880" cy="658368"/>
          </a:xfrm>
          <a:prstGeom prst="roundRect">
            <a:avLst>
              <a:gd name="adj" fmla="val 9722"/>
            </a:avLst>
          </a:prstGeom>
          <a:solidFill>
            <a:srgbClr val="F4F8FC"/>
          </a:solidFill>
          <a:ln/>
        </p:spPr>
      </p:sp>
      <p:pic>
        <p:nvPicPr>
          <p:cNvPr id="9" name="Image 1" descr="/home/claude/tr_pptx/icons/road_navy.png"/>
          <p:cNvPicPr>
            <a:picLocks noChangeAspect="1"/>
          </p:cNvPicPr>
          <p:nvPr/>
        </p:nvPicPr>
        <p:blipFill>
          <a:blip r:embed="rId4"/>
          <a:stretch>
            <a:fillRect/>
          </a:stretch>
        </p:blipFill>
        <p:spPr>
          <a:xfrm>
            <a:off x="649224" y="2368296"/>
            <a:ext cx="310896" cy="310896"/>
          </a:xfrm>
          <a:prstGeom prst="rect">
            <a:avLst/>
          </a:prstGeom>
        </p:spPr>
      </p:pic>
      <p:sp>
        <p:nvSpPr>
          <p:cNvPr id="10" name="Text 6"/>
          <p:cNvSpPr/>
          <p:nvPr/>
        </p:nvSpPr>
        <p:spPr>
          <a:xfrm>
            <a:off x="1069848" y="2194560"/>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Road Network</a:t>
            </a:r>
            <a:endParaRPr lang="en-US" sz="1200" dirty="0"/>
          </a:p>
        </p:txBody>
      </p:sp>
      <p:sp>
        <p:nvSpPr>
          <p:cNvPr id="11" name="Shape 7"/>
          <p:cNvSpPr/>
          <p:nvPr/>
        </p:nvSpPr>
        <p:spPr>
          <a:xfrm>
            <a:off x="3337560" y="2377440"/>
            <a:ext cx="658368" cy="292608"/>
          </a:xfrm>
          <a:prstGeom prst="roundRect">
            <a:avLst>
              <a:gd name="adj" fmla="val 50000"/>
            </a:avLst>
          </a:prstGeom>
          <a:solidFill>
            <a:srgbClr val="FFFFFF"/>
          </a:solidFill>
          <a:ln w="12700">
            <a:solidFill>
              <a:srgbClr val="1F4E8C"/>
            </a:solidFill>
            <a:prstDash val="solid"/>
          </a:ln>
        </p:spPr>
      </p:sp>
      <p:sp>
        <p:nvSpPr>
          <p:cNvPr id="12" name="Text 8"/>
          <p:cNvSpPr/>
          <p:nvPr/>
        </p:nvSpPr>
        <p:spPr>
          <a:xfrm>
            <a:off x="3410712" y="2377440"/>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1F4E8C"/>
                </a:solidFill>
                <a:latin typeface="Calibri" pitchFamily="34" charset="0"/>
                <a:ea typeface="Calibri" pitchFamily="34" charset="-122"/>
                <a:cs typeface="Calibri" pitchFamily="34" charset="-120"/>
              </a:rPr>
              <a:t>SHP</a:t>
            </a:r>
            <a:endParaRPr lang="en-US" sz="900" dirty="0"/>
          </a:p>
        </p:txBody>
      </p:sp>
      <p:sp>
        <p:nvSpPr>
          <p:cNvPr id="13" name="Shape 9"/>
          <p:cNvSpPr/>
          <p:nvPr/>
        </p:nvSpPr>
        <p:spPr>
          <a:xfrm>
            <a:off x="502920" y="2944368"/>
            <a:ext cx="3611880" cy="658368"/>
          </a:xfrm>
          <a:prstGeom prst="roundRect">
            <a:avLst>
              <a:gd name="adj" fmla="val 9722"/>
            </a:avLst>
          </a:prstGeom>
          <a:solidFill>
            <a:srgbClr val="F4F8FC"/>
          </a:solidFill>
          <a:ln/>
        </p:spPr>
      </p:sp>
      <p:pic>
        <p:nvPicPr>
          <p:cNvPr id="14" name="Image 2" descr="/home/claude/tr_pptx/icons/water_blue.png"/>
          <p:cNvPicPr>
            <a:picLocks noChangeAspect="1"/>
          </p:cNvPicPr>
          <p:nvPr/>
        </p:nvPicPr>
        <p:blipFill>
          <a:blip r:embed="rId5"/>
          <a:stretch>
            <a:fillRect/>
          </a:stretch>
        </p:blipFill>
        <p:spPr>
          <a:xfrm>
            <a:off x="649224" y="3118104"/>
            <a:ext cx="310896" cy="310896"/>
          </a:xfrm>
          <a:prstGeom prst="rect">
            <a:avLst/>
          </a:prstGeom>
        </p:spPr>
      </p:pic>
      <p:sp>
        <p:nvSpPr>
          <p:cNvPr id="15" name="Text 10"/>
          <p:cNvSpPr/>
          <p:nvPr/>
        </p:nvSpPr>
        <p:spPr>
          <a:xfrm>
            <a:off x="1069848" y="2944368"/>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Flood Raster</a:t>
            </a:r>
            <a:endParaRPr lang="en-US" sz="1200" dirty="0"/>
          </a:p>
        </p:txBody>
      </p:sp>
      <p:sp>
        <p:nvSpPr>
          <p:cNvPr id="16" name="Shape 11"/>
          <p:cNvSpPr/>
          <p:nvPr/>
        </p:nvSpPr>
        <p:spPr>
          <a:xfrm>
            <a:off x="3337560" y="3127248"/>
            <a:ext cx="658368" cy="292608"/>
          </a:xfrm>
          <a:prstGeom prst="roundRect">
            <a:avLst>
              <a:gd name="adj" fmla="val 50000"/>
            </a:avLst>
          </a:prstGeom>
          <a:solidFill>
            <a:srgbClr val="FFFFFF"/>
          </a:solidFill>
          <a:ln w="12700">
            <a:solidFill>
              <a:srgbClr val="1F4E8C"/>
            </a:solidFill>
            <a:prstDash val="solid"/>
          </a:ln>
        </p:spPr>
      </p:sp>
      <p:sp>
        <p:nvSpPr>
          <p:cNvPr id="17" name="Text 12"/>
          <p:cNvSpPr/>
          <p:nvPr/>
        </p:nvSpPr>
        <p:spPr>
          <a:xfrm>
            <a:off x="3410712" y="3127248"/>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1F4E8C"/>
                </a:solidFill>
                <a:latin typeface="Calibri" pitchFamily="34" charset="0"/>
                <a:ea typeface="Calibri" pitchFamily="34" charset="-122"/>
                <a:cs typeface="Calibri" pitchFamily="34" charset="-120"/>
              </a:rPr>
              <a:t>GeoTIFF</a:t>
            </a:r>
            <a:endParaRPr lang="en-US" sz="900" dirty="0"/>
          </a:p>
        </p:txBody>
      </p:sp>
      <p:sp>
        <p:nvSpPr>
          <p:cNvPr id="18" name="Shape 13"/>
          <p:cNvSpPr/>
          <p:nvPr/>
        </p:nvSpPr>
        <p:spPr>
          <a:xfrm>
            <a:off x="502920" y="3694176"/>
            <a:ext cx="3611880" cy="658368"/>
          </a:xfrm>
          <a:prstGeom prst="roundRect">
            <a:avLst>
              <a:gd name="adj" fmla="val 9722"/>
            </a:avLst>
          </a:prstGeom>
          <a:solidFill>
            <a:srgbClr val="F4F8FC"/>
          </a:solidFill>
          <a:ln/>
        </p:spPr>
      </p:sp>
      <p:pic>
        <p:nvPicPr>
          <p:cNvPr id="19" name="Image 3" descr="/home/claude/tr_pptx/icons/marker_blue.png"/>
          <p:cNvPicPr>
            <a:picLocks noChangeAspect="1"/>
          </p:cNvPicPr>
          <p:nvPr/>
        </p:nvPicPr>
        <p:blipFill>
          <a:blip r:embed="rId6"/>
          <a:stretch>
            <a:fillRect/>
          </a:stretch>
        </p:blipFill>
        <p:spPr>
          <a:xfrm>
            <a:off x="649224" y="3867912"/>
            <a:ext cx="310896" cy="310896"/>
          </a:xfrm>
          <a:prstGeom prst="rect">
            <a:avLst/>
          </a:prstGeom>
        </p:spPr>
      </p:pic>
      <p:sp>
        <p:nvSpPr>
          <p:cNvPr id="20" name="Text 14"/>
          <p:cNvSpPr/>
          <p:nvPr/>
        </p:nvSpPr>
        <p:spPr>
          <a:xfrm>
            <a:off x="1069848" y="3694176"/>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Administrative Boundary</a:t>
            </a:r>
            <a:endParaRPr lang="en-US" sz="1200" dirty="0"/>
          </a:p>
        </p:txBody>
      </p:sp>
      <p:sp>
        <p:nvSpPr>
          <p:cNvPr id="21" name="Shape 15"/>
          <p:cNvSpPr/>
          <p:nvPr/>
        </p:nvSpPr>
        <p:spPr>
          <a:xfrm>
            <a:off x="3337560" y="3877056"/>
            <a:ext cx="658368" cy="292608"/>
          </a:xfrm>
          <a:prstGeom prst="roundRect">
            <a:avLst>
              <a:gd name="adj" fmla="val 50000"/>
            </a:avLst>
          </a:prstGeom>
          <a:solidFill>
            <a:srgbClr val="FFFFFF"/>
          </a:solidFill>
          <a:ln w="12700">
            <a:solidFill>
              <a:srgbClr val="1F4E8C"/>
            </a:solidFill>
            <a:prstDash val="solid"/>
          </a:ln>
        </p:spPr>
      </p:sp>
      <p:sp>
        <p:nvSpPr>
          <p:cNvPr id="22" name="Text 16"/>
          <p:cNvSpPr/>
          <p:nvPr/>
        </p:nvSpPr>
        <p:spPr>
          <a:xfrm>
            <a:off x="3410712" y="3877056"/>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1F4E8C"/>
                </a:solidFill>
                <a:latin typeface="Calibri" pitchFamily="34" charset="0"/>
                <a:ea typeface="Calibri" pitchFamily="34" charset="-122"/>
                <a:cs typeface="Calibri" pitchFamily="34" charset="-120"/>
              </a:rPr>
              <a:t>SHP</a:t>
            </a:r>
            <a:endParaRPr lang="en-US" sz="900" dirty="0"/>
          </a:p>
        </p:txBody>
      </p:sp>
      <p:sp>
        <p:nvSpPr>
          <p:cNvPr id="23" name="Shape 17"/>
          <p:cNvSpPr/>
          <p:nvPr/>
        </p:nvSpPr>
        <p:spPr>
          <a:xfrm>
            <a:off x="502920" y="4443984"/>
            <a:ext cx="3611880" cy="658368"/>
          </a:xfrm>
          <a:prstGeom prst="roundRect">
            <a:avLst>
              <a:gd name="adj" fmla="val 9722"/>
            </a:avLst>
          </a:prstGeom>
          <a:solidFill>
            <a:srgbClr val="F4F8FC"/>
          </a:solidFill>
          <a:ln/>
        </p:spPr>
      </p:sp>
      <p:pic>
        <p:nvPicPr>
          <p:cNvPr id="24" name="Image 4" descr="/home/claude/tr_pptx/icons/bus_blue.png"/>
          <p:cNvPicPr>
            <a:picLocks noChangeAspect="1"/>
          </p:cNvPicPr>
          <p:nvPr/>
        </p:nvPicPr>
        <p:blipFill>
          <a:blip r:embed="rId7"/>
          <a:stretch>
            <a:fillRect/>
          </a:stretch>
        </p:blipFill>
        <p:spPr>
          <a:xfrm>
            <a:off x="649224" y="4617720"/>
            <a:ext cx="310896" cy="310896"/>
          </a:xfrm>
          <a:prstGeom prst="rect">
            <a:avLst/>
          </a:prstGeom>
        </p:spPr>
      </p:pic>
      <p:sp>
        <p:nvSpPr>
          <p:cNvPr id="25" name="Text 18"/>
          <p:cNvSpPr/>
          <p:nvPr/>
        </p:nvSpPr>
        <p:spPr>
          <a:xfrm>
            <a:off x="1069848" y="4443984"/>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Bus Stops</a:t>
            </a:r>
            <a:endParaRPr lang="en-US" sz="1200" dirty="0"/>
          </a:p>
        </p:txBody>
      </p:sp>
      <p:sp>
        <p:nvSpPr>
          <p:cNvPr id="26" name="Shape 19"/>
          <p:cNvSpPr/>
          <p:nvPr/>
        </p:nvSpPr>
        <p:spPr>
          <a:xfrm>
            <a:off x="3337560" y="4626864"/>
            <a:ext cx="658368" cy="292608"/>
          </a:xfrm>
          <a:prstGeom prst="roundRect">
            <a:avLst>
              <a:gd name="adj" fmla="val 50000"/>
            </a:avLst>
          </a:prstGeom>
          <a:solidFill>
            <a:srgbClr val="FFFFFF"/>
          </a:solidFill>
          <a:ln w="12700">
            <a:solidFill>
              <a:srgbClr val="1F4E8C"/>
            </a:solidFill>
            <a:prstDash val="solid"/>
          </a:ln>
        </p:spPr>
      </p:sp>
      <p:sp>
        <p:nvSpPr>
          <p:cNvPr id="27" name="Text 20"/>
          <p:cNvSpPr/>
          <p:nvPr/>
        </p:nvSpPr>
        <p:spPr>
          <a:xfrm>
            <a:off x="3410712" y="4626864"/>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1F4E8C"/>
                </a:solidFill>
                <a:latin typeface="Calibri" pitchFamily="34" charset="0"/>
                <a:ea typeface="Calibri" pitchFamily="34" charset="-122"/>
                <a:cs typeface="Calibri" pitchFamily="34" charset="-120"/>
              </a:rPr>
              <a:t>SHP</a:t>
            </a:r>
            <a:endParaRPr lang="en-US" sz="900" dirty="0"/>
          </a:p>
        </p:txBody>
      </p:sp>
      <p:sp>
        <p:nvSpPr>
          <p:cNvPr id="28" name="Shape 21"/>
          <p:cNvSpPr/>
          <p:nvPr/>
        </p:nvSpPr>
        <p:spPr>
          <a:xfrm>
            <a:off x="502920" y="5193792"/>
            <a:ext cx="3611880" cy="658368"/>
          </a:xfrm>
          <a:prstGeom prst="roundRect">
            <a:avLst>
              <a:gd name="adj" fmla="val 9722"/>
            </a:avLst>
          </a:prstGeom>
          <a:solidFill>
            <a:srgbClr val="F4F8FC"/>
          </a:solidFill>
          <a:ln/>
        </p:spPr>
      </p:sp>
      <p:pic>
        <p:nvPicPr>
          <p:cNvPr id="29" name="Image 5" descr="/home/claude/tr_pptx/icons/metro_blue.png"/>
          <p:cNvPicPr>
            <a:picLocks noChangeAspect="1"/>
          </p:cNvPicPr>
          <p:nvPr/>
        </p:nvPicPr>
        <p:blipFill>
          <a:blip r:embed="rId8"/>
          <a:stretch>
            <a:fillRect/>
          </a:stretch>
        </p:blipFill>
        <p:spPr>
          <a:xfrm>
            <a:off x="649224" y="5367528"/>
            <a:ext cx="310896" cy="310896"/>
          </a:xfrm>
          <a:prstGeom prst="rect">
            <a:avLst/>
          </a:prstGeom>
        </p:spPr>
      </p:pic>
      <p:sp>
        <p:nvSpPr>
          <p:cNvPr id="30" name="Text 22"/>
          <p:cNvSpPr/>
          <p:nvPr/>
        </p:nvSpPr>
        <p:spPr>
          <a:xfrm>
            <a:off x="1069848" y="5193792"/>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Metro Stations</a:t>
            </a:r>
            <a:endParaRPr lang="en-US" sz="1200" dirty="0"/>
          </a:p>
        </p:txBody>
      </p:sp>
      <p:sp>
        <p:nvSpPr>
          <p:cNvPr id="31" name="Shape 23"/>
          <p:cNvSpPr/>
          <p:nvPr/>
        </p:nvSpPr>
        <p:spPr>
          <a:xfrm>
            <a:off x="3337560" y="5376672"/>
            <a:ext cx="658368" cy="292608"/>
          </a:xfrm>
          <a:prstGeom prst="roundRect">
            <a:avLst>
              <a:gd name="adj" fmla="val 50000"/>
            </a:avLst>
          </a:prstGeom>
          <a:solidFill>
            <a:srgbClr val="FFFFFF"/>
          </a:solidFill>
          <a:ln w="12700">
            <a:solidFill>
              <a:srgbClr val="1F4E8C"/>
            </a:solidFill>
            <a:prstDash val="solid"/>
          </a:ln>
        </p:spPr>
      </p:sp>
      <p:sp>
        <p:nvSpPr>
          <p:cNvPr id="32" name="Text 24"/>
          <p:cNvSpPr/>
          <p:nvPr/>
        </p:nvSpPr>
        <p:spPr>
          <a:xfrm>
            <a:off x="3410712" y="5376672"/>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1F4E8C"/>
                </a:solidFill>
                <a:latin typeface="Calibri" pitchFamily="34" charset="0"/>
                <a:ea typeface="Calibri" pitchFamily="34" charset="-122"/>
                <a:cs typeface="Calibri" pitchFamily="34" charset="-120"/>
              </a:rPr>
              <a:t>SHP</a:t>
            </a:r>
            <a:endParaRPr lang="en-US" sz="900" dirty="0"/>
          </a:p>
        </p:txBody>
      </p:sp>
      <p:sp>
        <p:nvSpPr>
          <p:cNvPr id="33" name="Shape 25"/>
          <p:cNvSpPr/>
          <p:nvPr/>
        </p:nvSpPr>
        <p:spPr>
          <a:xfrm>
            <a:off x="4370832" y="1417320"/>
            <a:ext cx="3611880" cy="594360"/>
          </a:xfrm>
          <a:prstGeom prst="roundRect">
            <a:avLst>
              <a:gd name="adj" fmla="val 12308"/>
            </a:avLst>
          </a:prstGeom>
          <a:solidFill>
            <a:srgbClr val="2E86C1"/>
          </a:solidFill>
          <a:ln/>
        </p:spPr>
      </p:sp>
      <p:sp>
        <p:nvSpPr>
          <p:cNvPr id="34" name="Shape 26"/>
          <p:cNvSpPr/>
          <p:nvPr/>
        </p:nvSpPr>
        <p:spPr>
          <a:xfrm>
            <a:off x="4480560" y="1508760"/>
            <a:ext cx="411480" cy="411480"/>
          </a:xfrm>
          <a:prstGeom prst="ellipse">
            <a:avLst/>
          </a:prstGeom>
          <a:solidFill>
            <a:srgbClr val="FFFFFF">
              <a:alpha val="22000"/>
            </a:srgbClr>
          </a:solidFill>
          <a:ln/>
        </p:spPr>
      </p:sp>
      <p:pic>
        <p:nvPicPr>
          <p:cNvPr id="35" name="Image 6" descr="/home/claude/tr_pptx/icons/traveller_white.png"/>
          <p:cNvPicPr>
            <a:picLocks noChangeAspect="1"/>
          </p:cNvPicPr>
          <p:nvPr/>
        </p:nvPicPr>
        <p:blipFill>
          <a:blip r:embed="rId9"/>
          <a:stretch>
            <a:fillRect/>
          </a:stretch>
        </p:blipFill>
        <p:spPr>
          <a:xfrm>
            <a:off x="4562856" y="1591056"/>
            <a:ext cx="246888" cy="246888"/>
          </a:xfrm>
          <a:prstGeom prst="rect">
            <a:avLst/>
          </a:prstGeom>
        </p:spPr>
      </p:pic>
      <p:sp>
        <p:nvSpPr>
          <p:cNvPr id="36" name="Text 27"/>
          <p:cNvSpPr/>
          <p:nvPr/>
        </p:nvSpPr>
        <p:spPr>
          <a:xfrm>
            <a:off x="5010912" y="1417320"/>
            <a:ext cx="2880360" cy="5943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Transport Data</a:t>
            </a:r>
            <a:endParaRPr lang="en-US" sz="1500" dirty="0"/>
          </a:p>
        </p:txBody>
      </p:sp>
      <p:sp>
        <p:nvSpPr>
          <p:cNvPr id="37" name="Shape 28"/>
          <p:cNvSpPr/>
          <p:nvPr/>
        </p:nvSpPr>
        <p:spPr>
          <a:xfrm>
            <a:off x="4370832" y="2194560"/>
            <a:ext cx="3611880" cy="658368"/>
          </a:xfrm>
          <a:prstGeom prst="roundRect">
            <a:avLst>
              <a:gd name="adj" fmla="val 9722"/>
            </a:avLst>
          </a:prstGeom>
          <a:solidFill>
            <a:srgbClr val="F4F8FC"/>
          </a:solidFill>
          <a:ln/>
        </p:spPr>
      </p:sp>
      <p:pic>
        <p:nvPicPr>
          <p:cNvPr id="38" name="Image 7" descr="/home/claude/tr_pptx/icons/csv_grey.png"/>
          <p:cNvPicPr>
            <a:picLocks noChangeAspect="1"/>
          </p:cNvPicPr>
          <p:nvPr/>
        </p:nvPicPr>
        <p:blipFill>
          <a:blip r:embed="rId10"/>
          <a:stretch>
            <a:fillRect/>
          </a:stretch>
        </p:blipFill>
        <p:spPr>
          <a:xfrm>
            <a:off x="4517136" y="2368296"/>
            <a:ext cx="310896" cy="310896"/>
          </a:xfrm>
          <a:prstGeom prst="rect">
            <a:avLst/>
          </a:prstGeom>
        </p:spPr>
      </p:pic>
      <p:sp>
        <p:nvSpPr>
          <p:cNvPr id="39" name="Text 29"/>
          <p:cNvSpPr/>
          <p:nvPr/>
        </p:nvSpPr>
        <p:spPr>
          <a:xfrm>
            <a:off x="4937760" y="2194560"/>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Travel Survey</a:t>
            </a:r>
            <a:endParaRPr lang="en-US" sz="1200" dirty="0"/>
          </a:p>
        </p:txBody>
      </p:sp>
      <p:sp>
        <p:nvSpPr>
          <p:cNvPr id="40" name="Shape 30"/>
          <p:cNvSpPr/>
          <p:nvPr/>
        </p:nvSpPr>
        <p:spPr>
          <a:xfrm>
            <a:off x="7205472" y="2377440"/>
            <a:ext cx="658368" cy="292608"/>
          </a:xfrm>
          <a:prstGeom prst="roundRect">
            <a:avLst>
              <a:gd name="adj" fmla="val 50000"/>
            </a:avLst>
          </a:prstGeom>
          <a:solidFill>
            <a:srgbClr val="FFFFFF"/>
          </a:solidFill>
          <a:ln w="12700">
            <a:solidFill>
              <a:srgbClr val="2E86C1"/>
            </a:solidFill>
            <a:prstDash val="solid"/>
          </a:ln>
        </p:spPr>
      </p:sp>
      <p:sp>
        <p:nvSpPr>
          <p:cNvPr id="41" name="Text 31"/>
          <p:cNvSpPr/>
          <p:nvPr/>
        </p:nvSpPr>
        <p:spPr>
          <a:xfrm>
            <a:off x="7278624" y="2377440"/>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2E86C1"/>
                </a:solidFill>
                <a:latin typeface="Calibri" pitchFamily="34" charset="0"/>
                <a:ea typeface="Calibri" pitchFamily="34" charset="-122"/>
                <a:cs typeface="Calibri" pitchFamily="34" charset="-120"/>
              </a:rPr>
              <a:t>CSV</a:t>
            </a:r>
            <a:endParaRPr lang="en-US" sz="900" dirty="0"/>
          </a:p>
        </p:txBody>
      </p:sp>
      <p:sp>
        <p:nvSpPr>
          <p:cNvPr id="42" name="Shape 32"/>
          <p:cNvSpPr/>
          <p:nvPr/>
        </p:nvSpPr>
        <p:spPr>
          <a:xfrm>
            <a:off x="4370832" y="2944368"/>
            <a:ext cx="3611880" cy="658368"/>
          </a:xfrm>
          <a:prstGeom prst="roundRect">
            <a:avLst>
              <a:gd name="adj" fmla="val 9722"/>
            </a:avLst>
          </a:prstGeom>
          <a:solidFill>
            <a:srgbClr val="F4F8FC"/>
          </a:solidFill>
          <a:ln/>
        </p:spPr>
      </p:sp>
      <p:pic>
        <p:nvPicPr>
          <p:cNvPr id="43" name="Image 8" descr="/home/claude/tr_pptx/icons/csv_grey.png"/>
          <p:cNvPicPr>
            <a:picLocks noChangeAspect="1"/>
          </p:cNvPicPr>
          <p:nvPr/>
        </p:nvPicPr>
        <p:blipFill>
          <a:blip r:embed="rId10"/>
          <a:stretch>
            <a:fillRect/>
          </a:stretch>
        </p:blipFill>
        <p:spPr>
          <a:xfrm>
            <a:off x="4517136" y="3118104"/>
            <a:ext cx="310896" cy="310896"/>
          </a:xfrm>
          <a:prstGeom prst="rect">
            <a:avLst/>
          </a:prstGeom>
        </p:spPr>
      </p:pic>
      <p:sp>
        <p:nvSpPr>
          <p:cNvPr id="44" name="Text 33"/>
          <p:cNvSpPr/>
          <p:nvPr/>
        </p:nvSpPr>
        <p:spPr>
          <a:xfrm>
            <a:off x="4937760" y="2944368"/>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Traffic Volume</a:t>
            </a:r>
            <a:endParaRPr lang="en-US" sz="1200" dirty="0"/>
          </a:p>
        </p:txBody>
      </p:sp>
      <p:sp>
        <p:nvSpPr>
          <p:cNvPr id="45" name="Shape 34"/>
          <p:cNvSpPr/>
          <p:nvPr/>
        </p:nvSpPr>
        <p:spPr>
          <a:xfrm>
            <a:off x="7205472" y="3127248"/>
            <a:ext cx="658368" cy="292608"/>
          </a:xfrm>
          <a:prstGeom prst="roundRect">
            <a:avLst>
              <a:gd name="adj" fmla="val 50000"/>
            </a:avLst>
          </a:prstGeom>
          <a:solidFill>
            <a:srgbClr val="FFFFFF"/>
          </a:solidFill>
          <a:ln w="12700">
            <a:solidFill>
              <a:srgbClr val="2E86C1"/>
            </a:solidFill>
            <a:prstDash val="solid"/>
          </a:ln>
        </p:spPr>
      </p:sp>
      <p:sp>
        <p:nvSpPr>
          <p:cNvPr id="46" name="Text 35"/>
          <p:cNvSpPr/>
          <p:nvPr/>
        </p:nvSpPr>
        <p:spPr>
          <a:xfrm>
            <a:off x="7278624" y="3127248"/>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2E86C1"/>
                </a:solidFill>
                <a:latin typeface="Calibri" pitchFamily="34" charset="0"/>
                <a:ea typeface="Calibri" pitchFamily="34" charset="-122"/>
                <a:cs typeface="Calibri" pitchFamily="34" charset="-120"/>
              </a:rPr>
              <a:t>CSV</a:t>
            </a:r>
            <a:endParaRPr lang="en-US" sz="900" dirty="0"/>
          </a:p>
        </p:txBody>
      </p:sp>
      <p:sp>
        <p:nvSpPr>
          <p:cNvPr id="47" name="Shape 36"/>
          <p:cNvSpPr/>
          <p:nvPr/>
        </p:nvSpPr>
        <p:spPr>
          <a:xfrm>
            <a:off x="8238744" y="1417320"/>
            <a:ext cx="3611880" cy="594360"/>
          </a:xfrm>
          <a:prstGeom prst="roundRect">
            <a:avLst>
              <a:gd name="adj" fmla="val 12308"/>
            </a:avLst>
          </a:prstGeom>
          <a:solidFill>
            <a:srgbClr val="5FA8D3"/>
          </a:solidFill>
          <a:ln/>
        </p:spPr>
      </p:sp>
      <p:sp>
        <p:nvSpPr>
          <p:cNvPr id="48" name="Shape 37"/>
          <p:cNvSpPr/>
          <p:nvPr/>
        </p:nvSpPr>
        <p:spPr>
          <a:xfrm>
            <a:off x="8348472" y="1508760"/>
            <a:ext cx="411480" cy="411480"/>
          </a:xfrm>
          <a:prstGeom prst="ellipse">
            <a:avLst/>
          </a:prstGeom>
          <a:solidFill>
            <a:srgbClr val="FFFFFF">
              <a:alpha val="22000"/>
            </a:srgbClr>
          </a:solidFill>
          <a:ln/>
        </p:spPr>
      </p:sp>
      <p:pic>
        <p:nvPicPr>
          <p:cNvPr id="49" name="Image 9" descr="/home/claude/tr_pptx/icons/chart_white.png"/>
          <p:cNvPicPr>
            <a:picLocks noChangeAspect="1"/>
          </p:cNvPicPr>
          <p:nvPr/>
        </p:nvPicPr>
        <p:blipFill>
          <a:blip r:embed="rId11"/>
          <a:stretch>
            <a:fillRect/>
          </a:stretch>
        </p:blipFill>
        <p:spPr>
          <a:xfrm>
            <a:off x="8430768" y="1591056"/>
            <a:ext cx="246888" cy="246888"/>
          </a:xfrm>
          <a:prstGeom prst="rect">
            <a:avLst/>
          </a:prstGeom>
        </p:spPr>
      </p:pic>
      <p:sp>
        <p:nvSpPr>
          <p:cNvPr id="50" name="Text 38"/>
          <p:cNvSpPr/>
          <p:nvPr/>
        </p:nvSpPr>
        <p:spPr>
          <a:xfrm>
            <a:off x="8878824" y="1417320"/>
            <a:ext cx="2880360" cy="5943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Socioeconomic Data</a:t>
            </a:r>
            <a:endParaRPr lang="en-US" sz="1500" dirty="0"/>
          </a:p>
        </p:txBody>
      </p:sp>
      <p:sp>
        <p:nvSpPr>
          <p:cNvPr id="51" name="Shape 39"/>
          <p:cNvSpPr/>
          <p:nvPr/>
        </p:nvSpPr>
        <p:spPr>
          <a:xfrm>
            <a:off x="8238744" y="2194560"/>
            <a:ext cx="3611880" cy="658368"/>
          </a:xfrm>
          <a:prstGeom prst="roundRect">
            <a:avLst>
              <a:gd name="adj" fmla="val 9722"/>
            </a:avLst>
          </a:prstGeom>
          <a:solidFill>
            <a:srgbClr val="F4F8FC"/>
          </a:solidFill>
          <a:ln/>
        </p:spPr>
      </p:sp>
      <p:pic>
        <p:nvPicPr>
          <p:cNvPr id="52" name="Image 10" descr="/home/claude/tr_pptx/icons/income_grey.png"/>
          <p:cNvPicPr>
            <a:picLocks noChangeAspect="1"/>
          </p:cNvPicPr>
          <p:nvPr/>
        </p:nvPicPr>
        <p:blipFill>
          <a:blip r:embed="rId12"/>
          <a:stretch>
            <a:fillRect/>
          </a:stretch>
        </p:blipFill>
        <p:spPr>
          <a:xfrm>
            <a:off x="8385048" y="2368296"/>
            <a:ext cx="310896" cy="310896"/>
          </a:xfrm>
          <a:prstGeom prst="rect">
            <a:avLst/>
          </a:prstGeom>
        </p:spPr>
      </p:pic>
      <p:sp>
        <p:nvSpPr>
          <p:cNvPr id="53" name="Text 40"/>
          <p:cNvSpPr/>
          <p:nvPr/>
        </p:nvSpPr>
        <p:spPr>
          <a:xfrm>
            <a:off x="8805672" y="2194560"/>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Household Income</a:t>
            </a:r>
            <a:endParaRPr lang="en-US" sz="1200" dirty="0"/>
          </a:p>
        </p:txBody>
      </p:sp>
      <p:sp>
        <p:nvSpPr>
          <p:cNvPr id="54" name="Shape 41"/>
          <p:cNvSpPr/>
          <p:nvPr/>
        </p:nvSpPr>
        <p:spPr>
          <a:xfrm>
            <a:off x="11073384" y="2377440"/>
            <a:ext cx="658368" cy="292608"/>
          </a:xfrm>
          <a:prstGeom prst="roundRect">
            <a:avLst>
              <a:gd name="adj" fmla="val 50000"/>
            </a:avLst>
          </a:prstGeom>
          <a:solidFill>
            <a:srgbClr val="FFFFFF"/>
          </a:solidFill>
          <a:ln w="12700">
            <a:solidFill>
              <a:srgbClr val="5FA8D3"/>
            </a:solidFill>
            <a:prstDash val="solid"/>
          </a:ln>
        </p:spPr>
      </p:sp>
      <p:sp>
        <p:nvSpPr>
          <p:cNvPr id="55" name="Text 42"/>
          <p:cNvSpPr/>
          <p:nvPr/>
        </p:nvSpPr>
        <p:spPr>
          <a:xfrm>
            <a:off x="11146536" y="2377440"/>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5FA8D3"/>
                </a:solidFill>
                <a:latin typeface="Calibri" pitchFamily="34" charset="0"/>
                <a:ea typeface="Calibri" pitchFamily="34" charset="-122"/>
                <a:cs typeface="Calibri" pitchFamily="34" charset="-120"/>
              </a:rPr>
              <a:t>CSV</a:t>
            </a:r>
            <a:endParaRPr lang="en-US" sz="900" dirty="0"/>
          </a:p>
        </p:txBody>
      </p:sp>
      <p:sp>
        <p:nvSpPr>
          <p:cNvPr id="56" name="Shape 43"/>
          <p:cNvSpPr/>
          <p:nvPr/>
        </p:nvSpPr>
        <p:spPr>
          <a:xfrm>
            <a:off x="8238744" y="2944368"/>
            <a:ext cx="3611880" cy="658368"/>
          </a:xfrm>
          <a:prstGeom prst="roundRect">
            <a:avLst>
              <a:gd name="adj" fmla="val 9722"/>
            </a:avLst>
          </a:prstGeom>
          <a:solidFill>
            <a:srgbClr val="F4F8FC"/>
          </a:solidFill>
          <a:ln/>
        </p:spPr>
      </p:sp>
      <p:pic>
        <p:nvPicPr>
          <p:cNvPr id="57" name="Image 11" descr="/home/claude/tr_pptx/icons/occupation_grey.png"/>
          <p:cNvPicPr>
            <a:picLocks noChangeAspect="1"/>
          </p:cNvPicPr>
          <p:nvPr/>
        </p:nvPicPr>
        <p:blipFill>
          <a:blip r:embed="rId13"/>
          <a:stretch>
            <a:fillRect/>
          </a:stretch>
        </p:blipFill>
        <p:spPr>
          <a:xfrm>
            <a:off x="8385048" y="3118104"/>
            <a:ext cx="310896" cy="310896"/>
          </a:xfrm>
          <a:prstGeom prst="rect">
            <a:avLst/>
          </a:prstGeom>
        </p:spPr>
      </p:pic>
      <p:sp>
        <p:nvSpPr>
          <p:cNvPr id="58" name="Text 44"/>
          <p:cNvSpPr/>
          <p:nvPr/>
        </p:nvSpPr>
        <p:spPr>
          <a:xfrm>
            <a:off x="8805672" y="2944368"/>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Occupation</a:t>
            </a:r>
            <a:endParaRPr lang="en-US" sz="1200" dirty="0"/>
          </a:p>
        </p:txBody>
      </p:sp>
      <p:sp>
        <p:nvSpPr>
          <p:cNvPr id="59" name="Shape 45"/>
          <p:cNvSpPr/>
          <p:nvPr/>
        </p:nvSpPr>
        <p:spPr>
          <a:xfrm>
            <a:off x="11073384" y="3127248"/>
            <a:ext cx="658368" cy="292608"/>
          </a:xfrm>
          <a:prstGeom prst="roundRect">
            <a:avLst>
              <a:gd name="adj" fmla="val 50000"/>
            </a:avLst>
          </a:prstGeom>
          <a:solidFill>
            <a:srgbClr val="FFFFFF"/>
          </a:solidFill>
          <a:ln w="12700">
            <a:solidFill>
              <a:srgbClr val="5FA8D3"/>
            </a:solidFill>
            <a:prstDash val="solid"/>
          </a:ln>
        </p:spPr>
      </p:sp>
      <p:sp>
        <p:nvSpPr>
          <p:cNvPr id="60" name="Text 46"/>
          <p:cNvSpPr/>
          <p:nvPr/>
        </p:nvSpPr>
        <p:spPr>
          <a:xfrm>
            <a:off x="11146536" y="3127248"/>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5FA8D3"/>
                </a:solidFill>
                <a:latin typeface="Calibri" pitchFamily="34" charset="0"/>
                <a:ea typeface="Calibri" pitchFamily="34" charset="-122"/>
                <a:cs typeface="Calibri" pitchFamily="34" charset="-120"/>
              </a:rPr>
              <a:t>CSV</a:t>
            </a:r>
            <a:endParaRPr lang="en-US" sz="900" dirty="0"/>
          </a:p>
        </p:txBody>
      </p:sp>
      <p:sp>
        <p:nvSpPr>
          <p:cNvPr id="61" name="Shape 47"/>
          <p:cNvSpPr/>
          <p:nvPr/>
        </p:nvSpPr>
        <p:spPr>
          <a:xfrm>
            <a:off x="8238744" y="3694176"/>
            <a:ext cx="3611880" cy="658368"/>
          </a:xfrm>
          <a:prstGeom prst="roundRect">
            <a:avLst>
              <a:gd name="adj" fmla="val 9722"/>
            </a:avLst>
          </a:prstGeom>
          <a:solidFill>
            <a:srgbClr val="F4F8FC"/>
          </a:solidFill>
          <a:ln/>
        </p:spPr>
      </p:sp>
      <p:pic>
        <p:nvPicPr>
          <p:cNvPr id="62" name="Image 12" descr="/home/claude/tr_pptx/icons/weather_grey.png"/>
          <p:cNvPicPr>
            <a:picLocks noChangeAspect="1"/>
          </p:cNvPicPr>
          <p:nvPr/>
        </p:nvPicPr>
        <p:blipFill>
          <a:blip r:embed="rId14"/>
          <a:stretch>
            <a:fillRect/>
          </a:stretch>
        </p:blipFill>
        <p:spPr>
          <a:xfrm>
            <a:off x="8385048" y="3867912"/>
            <a:ext cx="310896" cy="310896"/>
          </a:xfrm>
          <a:prstGeom prst="rect">
            <a:avLst/>
          </a:prstGeom>
        </p:spPr>
      </p:pic>
      <p:sp>
        <p:nvSpPr>
          <p:cNvPr id="63" name="Text 48"/>
          <p:cNvSpPr/>
          <p:nvPr/>
        </p:nvSpPr>
        <p:spPr>
          <a:xfrm>
            <a:off x="8805672" y="3694176"/>
            <a:ext cx="2240280" cy="658368"/>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Weather Records</a:t>
            </a:r>
            <a:endParaRPr lang="en-US" sz="1200" dirty="0"/>
          </a:p>
        </p:txBody>
      </p:sp>
      <p:sp>
        <p:nvSpPr>
          <p:cNvPr id="64" name="Shape 49"/>
          <p:cNvSpPr/>
          <p:nvPr/>
        </p:nvSpPr>
        <p:spPr>
          <a:xfrm>
            <a:off x="11073384" y="3877056"/>
            <a:ext cx="658368" cy="292608"/>
          </a:xfrm>
          <a:prstGeom prst="roundRect">
            <a:avLst>
              <a:gd name="adj" fmla="val 50000"/>
            </a:avLst>
          </a:prstGeom>
          <a:solidFill>
            <a:srgbClr val="FFFFFF"/>
          </a:solidFill>
          <a:ln w="12700">
            <a:solidFill>
              <a:srgbClr val="5FA8D3"/>
            </a:solidFill>
            <a:prstDash val="solid"/>
          </a:ln>
        </p:spPr>
      </p:sp>
      <p:sp>
        <p:nvSpPr>
          <p:cNvPr id="65" name="Text 50"/>
          <p:cNvSpPr/>
          <p:nvPr/>
        </p:nvSpPr>
        <p:spPr>
          <a:xfrm>
            <a:off x="11146536" y="3877056"/>
            <a:ext cx="512064" cy="292608"/>
          </a:xfrm>
          <a:prstGeom prst="rect">
            <a:avLst/>
          </a:prstGeom>
          <a:noFill/>
          <a:ln/>
        </p:spPr>
        <p:txBody>
          <a:bodyPr wrap="square" lIns="0" tIns="0" rIns="0" bIns="0" rtlCol="0" anchor="ctr"/>
          <a:lstStyle/>
          <a:p>
            <a:pPr marL="0" indent="0" algn="ctr">
              <a:lnSpc>
                <a:spcPct val="100000"/>
              </a:lnSpc>
              <a:buNone/>
            </a:pPr>
            <a:r>
              <a:rPr lang="en-US" sz="900" b="1" dirty="0">
                <a:solidFill>
                  <a:srgbClr val="5FA8D3"/>
                </a:solidFill>
                <a:latin typeface="Calibri" pitchFamily="34" charset="0"/>
                <a:ea typeface="Calibri" pitchFamily="34" charset="-122"/>
                <a:cs typeface="Calibri" pitchFamily="34" charset="-120"/>
              </a:rPr>
              <a:t>CSV</a:t>
            </a:r>
            <a:endParaRPr lang="en-US" sz="900" dirty="0"/>
          </a:p>
        </p:txBody>
      </p:sp>
      <p:sp>
        <p:nvSpPr>
          <p:cNvPr id="66"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METHODOLOGY - PART I</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Historical Resilience Assessment</a:t>
            </a:r>
            <a:endParaRPr lang="en-US" sz="2800" dirty="0"/>
          </a:p>
        </p:txBody>
      </p:sp>
      <p:sp>
        <p:nvSpPr>
          <p:cNvPr id="4" name="Shape 2"/>
          <p:cNvSpPr/>
          <p:nvPr/>
        </p:nvSpPr>
        <p:spPr>
          <a:xfrm>
            <a:off x="502920" y="1554480"/>
            <a:ext cx="2035454" cy="1234440"/>
          </a:xfrm>
          <a:prstGeom prst="roundRect">
            <a:avLst>
              <a:gd name="adj" fmla="val 5926"/>
            </a:avLst>
          </a:prstGeom>
          <a:solidFill>
            <a:srgbClr val="F4F8FC"/>
          </a:solidFill>
          <a:ln/>
          <a:effectLst>
            <a:outerShdw blurRad="76200" dist="25400" dir="5400000" algn="bl" rotWithShape="0">
              <a:srgbClr val="9AA7B5">
                <a:alpha val="28000"/>
              </a:srgbClr>
            </a:outerShdw>
          </a:effectLst>
        </p:spPr>
      </p:sp>
      <p:sp>
        <p:nvSpPr>
          <p:cNvPr id="5" name="Shape 3"/>
          <p:cNvSpPr/>
          <p:nvPr/>
        </p:nvSpPr>
        <p:spPr>
          <a:xfrm>
            <a:off x="1282903" y="1682496"/>
            <a:ext cx="475488" cy="475488"/>
          </a:xfrm>
          <a:prstGeom prst="ellipse">
            <a:avLst/>
          </a:prstGeom>
          <a:solidFill>
            <a:srgbClr val="FFFFFF"/>
          </a:solidFill>
          <a:ln/>
        </p:spPr>
      </p:sp>
      <p:pic>
        <p:nvPicPr>
          <p:cNvPr id="6" name="Image 0" descr="/home/claude/tr_pptx/icons/road_navy.png"/>
          <p:cNvPicPr>
            <a:picLocks noChangeAspect="1"/>
          </p:cNvPicPr>
          <p:nvPr/>
        </p:nvPicPr>
        <p:blipFill>
          <a:blip r:embed="rId3"/>
          <a:stretch>
            <a:fillRect/>
          </a:stretch>
        </p:blipFill>
        <p:spPr>
          <a:xfrm>
            <a:off x="1378001" y="1777594"/>
            <a:ext cx="285293" cy="285293"/>
          </a:xfrm>
          <a:prstGeom prst="rect">
            <a:avLst/>
          </a:prstGeom>
        </p:spPr>
      </p:pic>
      <p:sp>
        <p:nvSpPr>
          <p:cNvPr id="7" name="Text 4"/>
          <p:cNvSpPr/>
          <p:nvPr/>
        </p:nvSpPr>
        <p:spPr>
          <a:xfrm>
            <a:off x="557784" y="2212848"/>
            <a:ext cx="1925726" cy="530352"/>
          </a:xfrm>
          <a:prstGeom prst="rect">
            <a:avLst/>
          </a:prstGeom>
          <a:noFill/>
          <a:ln/>
        </p:spPr>
        <p:txBody>
          <a:bodyPr wrap="square" lIns="0" tIns="0" rIns="0" bIns="0" rtlCol="0" anchor="t"/>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Data Overlay</a:t>
            </a:r>
            <a:endParaRPr lang="en-US" sz="1400" dirty="0"/>
          </a:p>
        </p:txBody>
      </p:sp>
      <p:sp>
        <p:nvSpPr>
          <p:cNvPr id="8" name="Shape 5"/>
          <p:cNvSpPr/>
          <p:nvPr/>
        </p:nvSpPr>
        <p:spPr>
          <a:xfrm>
            <a:off x="2556662" y="2098548"/>
            <a:ext cx="168250" cy="146304"/>
          </a:xfrm>
          <a:prstGeom prst="rightArrow">
            <a:avLst/>
          </a:prstGeom>
          <a:solidFill>
            <a:srgbClr val="8A93A0"/>
          </a:solidFill>
          <a:ln/>
        </p:spPr>
      </p:sp>
      <p:sp>
        <p:nvSpPr>
          <p:cNvPr id="9" name="Shape 6"/>
          <p:cNvSpPr/>
          <p:nvPr/>
        </p:nvSpPr>
        <p:spPr>
          <a:xfrm>
            <a:off x="2794406" y="1554480"/>
            <a:ext cx="2035454" cy="1234440"/>
          </a:xfrm>
          <a:prstGeom prst="roundRect">
            <a:avLst>
              <a:gd name="adj" fmla="val 5926"/>
            </a:avLst>
          </a:prstGeom>
          <a:solidFill>
            <a:srgbClr val="1F4E8C"/>
          </a:solidFill>
          <a:ln/>
          <a:effectLst>
            <a:outerShdw blurRad="76200" dist="25400" dir="5400000" algn="bl" rotWithShape="0">
              <a:srgbClr val="9AA7B5">
                <a:alpha val="28000"/>
              </a:srgbClr>
            </a:outerShdw>
          </a:effectLst>
        </p:spPr>
      </p:sp>
      <p:sp>
        <p:nvSpPr>
          <p:cNvPr id="10" name="Shape 7"/>
          <p:cNvSpPr/>
          <p:nvPr/>
        </p:nvSpPr>
        <p:spPr>
          <a:xfrm>
            <a:off x="3574390" y="1682496"/>
            <a:ext cx="475488" cy="475488"/>
          </a:xfrm>
          <a:prstGeom prst="ellipse">
            <a:avLst/>
          </a:prstGeom>
          <a:solidFill>
            <a:srgbClr val="FFFFFF">
              <a:alpha val="25000"/>
            </a:srgbClr>
          </a:solidFill>
          <a:ln/>
        </p:spPr>
      </p:sp>
      <p:pic>
        <p:nvPicPr>
          <p:cNvPr id="11" name="Image 1" descr="/home/claude/tr_pptx/icons/road_white.png"/>
          <p:cNvPicPr>
            <a:picLocks noChangeAspect="1"/>
          </p:cNvPicPr>
          <p:nvPr/>
        </p:nvPicPr>
        <p:blipFill>
          <a:blip r:embed="rId4"/>
          <a:stretch>
            <a:fillRect/>
          </a:stretch>
        </p:blipFill>
        <p:spPr>
          <a:xfrm>
            <a:off x="3669487" y="1777594"/>
            <a:ext cx="285293" cy="285293"/>
          </a:xfrm>
          <a:prstGeom prst="rect">
            <a:avLst/>
          </a:prstGeom>
        </p:spPr>
      </p:pic>
      <p:sp>
        <p:nvSpPr>
          <p:cNvPr id="12" name="Text 8"/>
          <p:cNvSpPr/>
          <p:nvPr/>
        </p:nvSpPr>
        <p:spPr>
          <a:xfrm>
            <a:off x="2849270" y="2212848"/>
            <a:ext cx="1925726" cy="530352"/>
          </a:xfrm>
          <a:prstGeom prst="rect">
            <a:avLst/>
          </a:prstGeom>
          <a:noFill/>
          <a:ln/>
        </p:spPr>
        <p:txBody>
          <a:bodyPr wrap="square" lIns="0" tIns="0" rIns="0" bIns="0" rtlCol="0" anchor="t"/>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Infrastructure Functionality (IF)</a:t>
            </a:r>
            <a:endParaRPr lang="en-US" sz="1400" dirty="0"/>
          </a:p>
        </p:txBody>
      </p:sp>
      <p:sp>
        <p:nvSpPr>
          <p:cNvPr id="13" name="Shape 9"/>
          <p:cNvSpPr/>
          <p:nvPr/>
        </p:nvSpPr>
        <p:spPr>
          <a:xfrm>
            <a:off x="4848149" y="2098548"/>
            <a:ext cx="168250" cy="146304"/>
          </a:xfrm>
          <a:prstGeom prst="rightArrow">
            <a:avLst/>
          </a:prstGeom>
          <a:solidFill>
            <a:srgbClr val="8A93A0"/>
          </a:solidFill>
          <a:ln/>
        </p:spPr>
      </p:sp>
      <p:sp>
        <p:nvSpPr>
          <p:cNvPr id="14" name="Shape 10"/>
          <p:cNvSpPr/>
          <p:nvPr/>
        </p:nvSpPr>
        <p:spPr>
          <a:xfrm>
            <a:off x="5085893" y="1554480"/>
            <a:ext cx="2035454" cy="1234440"/>
          </a:xfrm>
          <a:prstGeom prst="roundRect">
            <a:avLst>
              <a:gd name="adj" fmla="val 5926"/>
            </a:avLst>
          </a:prstGeom>
          <a:solidFill>
            <a:srgbClr val="2E86C1"/>
          </a:solidFill>
          <a:ln/>
          <a:effectLst>
            <a:outerShdw blurRad="76200" dist="25400" dir="5400000" algn="bl" rotWithShape="0">
              <a:srgbClr val="9AA7B5">
                <a:alpha val="28000"/>
              </a:srgbClr>
            </a:outerShdw>
          </a:effectLst>
        </p:spPr>
      </p:sp>
      <p:sp>
        <p:nvSpPr>
          <p:cNvPr id="15" name="Shape 11"/>
          <p:cNvSpPr/>
          <p:nvPr/>
        </p:nvSpPr>
        <p:spPr>
          <a:xfrm>
            <a:off x="5865876" y="1682496"/>
            <a:ext cx="475488" cy="475488"/>
          </a:xfrm>
          <a:prstGeom prst="ellipse">
            <a:avLst/>
          </a:prstGeom>
          <a:solidFill>
            <a:srgbClr val="FFFFFF">
              <a:alpha val="25000"/>
            </a:srgbClr>
          </a:solidFill>
          <a:ln/>
        </p:spPr>
      </p:sp>
      <p:pic>
        <p:nvPicPr>
          <p:cNvPr id="16" name="Image 2" descr="/home/claude/tr_pptx/icons/marker_white.png"/>
          <p:cNvPicPr>
            <a:picLocks noChangeAspect="1"/>
          </p:cNvPicPr>
          <p:nvPr/>
        </p:nvPicPr>
        <p:blipFill>
          <a:blip r:embed="rId5"/>
          <a:stretch>
            <a:fillRect/>
          </a:stretch>
        </p:blipFill>
        <p:spPr>
          <a:xfrm>
            <a:off x="5960974" y="1777594"/>
            <a:ext cx="285293" cy="285293"/>
          </a:xfrm>
          <a:prstGeom prst="rect">
            <a:avLst/>
          </a:prstGeom>
        </p:spPr>
      </p:pic>
      <p:sp>
        <p:nvSpPr>
          <p:cNvPr id="17" name="Text 12"/>
          <p:cNvSpPr/>
          <p:nvPr/>
        </p:nvSpPr>
        <p:spPr>
          <a:xfrm>
            <a:off x="5140757" y="2212848"/>
            <a:ext cx="1925726" cy="530352"/>
          </a:xfrm>
          <a:prstGeom prst="rect">
            <a:avLst/>
          </a:prstGeom>
          <a:noFill/>
          <a:ln/>
        </p:spPr>
        <p:txBody>
          <a:bodyPr wrap="square" lIns="0" tIns="0" rIns="0" bIns="0" rtlCol="0" anchor="t"/>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Accessibility Index (AI)</a:t>
            </a:r>
            <a:endParaRPr lang="en-US" sz="1400" dirty="0"/>
          </a:p>
        </p:txBody>
      </p:sp>
      <p:sp>
        <p:nvSpPr>
          <p:cNvPr id="18" name="Shape 13"/>
          <p:cNvSpPr/>
          <p:nvPr/>
        </p:nvSpPr>
        <p:spPr>
          <a:xfrm>
            <a:off x="7139635" y="2098548"/>
            <a:ext cx="168250" cy="146304"/>
          </a:xfrm>
          <a:prstGeom prst="rightArrow">
            <a:avLst/>
          </a:prstGeom>
          <a:solidFill>
            <a:srgbClr val="8A93A0"/>
          </a:solidFill>
          <a:ln/>
        </p:spPr>
      </p:sp>
      <p:sp>
        <p:nvSpPr>
          <p:cNvPr id="19" name="Shape 14"/>
          <p:cNvSpPr/>
          <p:nvPr/>
        </p:nvSpPr>
        <p:spPr>
          <a:xfrm>
            <a:off x="7377379" y="1554480"/>
            <a:ext cx="2035454" cy="1234440"/>
          </a:xfrm>
          <a:prstGeom prst="roundRect">
            <a:avLst>
              <a:gd name="adj" fmla="val 5926"/>
            </a:avLst>
          </a:prstGeom>
          <a:solidFill>
            <a:srgbClr val="5FA8D3"/>
          </a:solidFill>
          <a:ln/>
          <a:effectLst>
            <a:outerShdw blurRad="76200" dist="25400" dir="5400000" algn="bl" rotWithShape="0">
              <a:srgbClr val="9AA7B5">
                <a:alpha val="28000"/>
              </a:srgbClr>
            </a:outerShdw>
          </a:effectLst>
        </p:spPr>
      </p:sp>
      <p:sp>
        <p:nvSpPr>
          <p:cNvPr id="20" name="Shape 15"/>
          <p:cNvSpPr/>
          <p:nvPr/>
        </p:nvSpPr>
        <p:spPr>
          <a:xfrm>
            <a:off x="8157362" y="1682496"/>
            <a:ext cx="475488" cy="475488"/>
          </a:xfrm>
          <a:prstGeom prst="ellipse">
            <a:avLst/>
          </a:prstGeom>
          <a:solidFill>
            <a:srgbClr val="FFFFFF">
              <a:alpha val="25000"/>
            </a:srgbClr>
          </a:solidFill>
          <a:ln/>
        </p:spPr>
      </p:sp>
      <p:pic>
        <p:nvPicPr>
          <p:cNvPr id="21" name="Image 3" descr="/home/claude/tr_pptx/icons/traveller_white.png"/>
          <p:cNvPicPr>
            <a:picLocks noChangeAspect="1"/>
          </p:cNvPicPr>
          <p:nvPr/>
        </p:nvPicPr>
        <p:blipFill>
          <a:blip r:embed="rId6"/>
          <a:stretch>
            <a:fillRect/>
          </a:stretch>
        </p:blipFill>
        <p:spPr>
          <a:xfrm>
            <a:off x="8252460" y="1777594"/>
            <a:ext cx="285293" cy="285293"/>
          </a:xfrm>
          <a:prstGeom prst="rect">
            <a:avLst/>
          </a:prstGeom>
        </p:spPr>
      </p:pic>
      <p:sp>
        <p:nvSpPr>
          <p:cNvPr id="22" name="Text 16"/>
          <p:cNvSpPr/>
          <p:nvPr/>
        </p:nvSpPr>
        <p:spPr>
          <a:xfrm>
            <a:off x="7432243" y="2212848"/>
            <a:ext cx="1925726" cy="530352"/>
          </a:xfrm>
          <a:prstGeom prst="rect">
            <a:avLst/>
          </a:prstGeom>
          <a:noFill/>
          <a:ln/>
        </p:spPr>
        <p:txBody>
          <a:bodyPr wrap="square" lIns="0" tIns="0" rIns="0" bIns="0" rtlCol="0" anchor="t"/>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Behavioural Adaptation (BA)</a:t>
            </a:r>
            <a:endParaRPr lang="en-US" sz="1400" dirty="0"/>
          </a:p>
        </p:txBody>
      </p:sp>
      <p:sp>
        <p:nvSpPr>
          <p:cNvPr id="23" name="Shape 17"/>
          <p:cNvSpPr/>
          <p:nvPr/>
        </p:nvSpPr>
        <p:spPr>
          <a:xfrm>
            <a:off x="9431122" y="2098548"/>
            <a:ext cx="168250" cy="146304"/>
          </a:xfrm>
          <a:prstGeom prst="rightArrow">
            <a:avLst/>
          </a:prstGeom>
          <a:solidFill>
            <a:srgbClr val="8A93A0"/>
          </a:solidFill>
          <a:ln/>
        </p:spPr>
      </p:sp>
      <p:sp>
        <p:nvSpPr>
          <p:cNvPr id="24" name="Shape 18"/>
          <p:cNvSpPr/>
          <p:nvPr/>
        </p:nvSpPr>
        <p:spPr>
          <a:xfrm>
            <a:off x="9668866" y="1554480"/>
            <a:ext cx="2035454" cy="1234440"/>
          </a:xfrm>
          <a:prstGeom prst="roundRect">
            <a:avLst>
              <a:gd name="adj" fmla="val 5926"/>
            </a:avLst>
          </a:prstGeom>
          <a:solidFill>
            <a:srgbClr val="12253B"/>
          </a:solidFill>
          <a:ln/>
          <a:effectLst>
            <a:outerShdw blurRad="76200" dist="25400" dir="5400000" algn="bl" rotWithShape="0">
              <a:srgbClr val="9AA7B5">
                <a:alpha val="28000"/>
              </a:srgbClr>
            </a:outerShdw>
          </a:effectLst>
        </p:spPr>
      </p:sp>
      <p:sp>
        <p:nvSpPr>
          <p:cNvPr id="25" name="Shape 19"/>
          <p:cNvSpPr/>
          <p:nvPr/>
        </p:nvSpPr>
        <p:spPr>
          <a:xfrm>
            <a:off x="10448849" y="1682496"/>
            <a:ext cx="475488" cy="475488"/>
          </a:xfrm>
          <a:prstGeom prst="ellipse">
            <a:avLst/>
          </a:prstGeom>
          <a:solidFill>
            <a:srgbClr val="FFFFFF">
              <a:alpha val="25000"/>
            </a:srgbClr>
          </a:solidFill>
          <a:ln/>
        </p:spPr>
      </p:sp>
      <p:pic>
        <p:nvPicPr>
          <p:cNvPr id="26" name="Image 4" descr="/home/claude/tr_pptx/icons/chart_white.png"/>
          <p:cNvPicPr>
            <a:picLocks noChangeAspect="1"/>
          </p:cNvPicPr>
          <p:nvPr/>
        </p:nvPicPr>
        <p:blipFill>
          <a:blip r:embed="rId7"/>
          <a:stretch>
            <a:fillRect/>
          </a:stretch>
        </p:blipFill>
        <p:spPr>
          <a:xfrm>
            <a:off x="10543946" y="1777594"/>
            <a:ext cx="285293" cy="285293"/>
          </a:xfrm>
          <a:prstGeom prst="rect">
            <a:avLst/>
          </a:prstGeom>
        </p:spPr>
      </p:pic>
      <p:sp>
        <p:nvSpPr>
          <p:cNvPr id="27" name="Text 20"/>
          <p:cNvSpPr/>
          <p:nvPr/>
        </p:nvSpPr>
        <p:spPr>
          <a:xfrm>
            <a:off x="9723730" y="2212848"/>
            <a:ext cx="1925726" cy="530352"/>
          </a:xfrm>
          <a:prstGeom prst="rect">
            <a:avLst/>
          </a:prstGeom>
          <a:noFill/>
          <a:ln/>
        </p:spPr>
        <p:txBody>
          <a:bodyPr wrap="square" lIns="0" tIns="0" rIns="0" bIns="0" rtlCol="0" anchor="t"/>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Historical TRI</a:t>
            </a:r>
            <a:endParaRPr lang="en-US" sz="1400" dirty="0"/>
          </a:p>
        </p:txBody>
      </p:sp>
      <p:sp>
        <p:nvSpPr>
          <p:cNvPr id="28" name="Shape 21"/>
          <p:cNvSpPr/>
          <p:nvPr/>
        </p:nvSpPr>
        <p:spPr>
          <a:xfrm>
            <a:off x="502920" y="3108960"/>
            <a:ext cx="2035454" cy="1417320"/>
          </a:xfrm>
          <a:prstGeom prst="roundRect">
            <a:avLst>
              <a:gd name="adj" fmla="val 4516"/>
            </a:avLst>
          </a:prstGeom>
          <a:solidFill>
            <a:srgbClr val="FFFFFF"/>
          </a:solidFill>
          <a:ln w="12700">
            <a:solidFill>
              <a:srgbClr val="C9D6E4"/>
            </a:solidFill>
            <a:prstDash val="solid"/>
          </a:ln>
        </p:spPr>
      </p:sp>
      <p:sp>
        <p:nvSpPr>
          <p:cNvPr id="29" name="Text 22"/>
          <p:cNvSpPr/>
          <p:nvPr/>
        </p:nvSpPr>
        <p:spPr>
          <a:xfrm>
            <a:off x="612648" y="3218688"/>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INPUT</a:t>
            </a:r>
            <a:endParaRPr lang="en-US" sz="1400" dirty="0"/>
          </a:p>
        </p:txBody>
      </p:sp>
      <p:sp>
        <p:nvSpPr>
          <p:cNvPr id="30" name="Text 23"/>
          <p:cNvSpPr/>
          <p:nvPr/>
        </p:nvSpPr>
        <p:spPr>
          <a:xfrm>
            <a:off x="612648" y="3392424"/>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Road + Flood Raster</a:t>
            </a:r>
            <a:endParaRPr lang="en-US" sz="1400" dirty="0"/>
          </a:p>
        </p:txBody>
      </p:sp>
      <p:sp>
        <p:nvSpPr>
          <p:cNvPr id="31" name="Text 24"/>
          <p:cNvSpPr/>
          <p:nvPr/>
        </p:nvSpPr>
        <p:spPr>
          <a:xfrm>
            <a:off x="612648" y="3648456"/>
            <a:ext cx="1815998" cy="182880"/>
          </a:xfrm>
          <a:prstGeom prst="rect">
            <a:avLst/>
          </a:prstGeom>
          <a:noFill/>
          <a:ln/>
        </p:spPr>
        <p:txBody>
          <a:bodyPr wrap="square" lIns="0" tIns="0" rIns="0" bIns="0" rtlCol="0" anchor="ctr"/>
          <a:lstStyle/>
          <a:p>
            <a:pPr marL="0" indent="0">
              <a:buNone/>
            </a:pPr>
            <a:r>
              <a:rPr lang="en-US" sz="800" b="1" kern="0" spc="50" dirty="0">
                <a:solidFill>
                  <a:srgbClr val="8A93A0"/>
                </a:solidFill>
                <a:latin typeface="Calibri" pitchFamily="34" charset="0"/>
                <a:ea typeface="Calibri" pitchFamily="34" charset="-122"/>
                <a:cs typeface="Calibri" pitchFamily="34" charset="-120"/>
              </a:rPr>
              <a:t>OUTPUT</a:t>
            </a:r>
            <a:endParaRPr lang="en-US" sz="800" dirty="0"/>
          </a:p>
        </p:txBody>
      </p:sp>
      <p:sp>
        <p:nvSpPr>
          <p:cNvPr id="32" name="Text 25"/>
          <p:cNvSpPr/>
          <p:nvPr/>
        </p:nvSpPr>
        <p:spPr>
          <a:xfrm>
            <a:off x="612648" y="3822192"/>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Road Status</a:t>
            </a:r>
            <a:endParaRPr lang="en-US" sz="1400" dirty="0"/>
          </a:p>
        </p:txBody>
      </p:sp>
      <p:sp>
        <p:nvSpPr>
          <p:cNvPr id="33" name="Text 26"/>
          <p:cNvSpPr/>
          <p:nvPr/>
        </p:nvSpPr>
        <p:spPr>
          <a:xfrm>
            <a:off x="612648" y="4078224"/>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CALC.</a:t>
            </a:r>
            <a:endParaRPr lang="en-US" sz="1400" dirty="0"/>
          </a:p>
        </p:txBody>
      </p:sp>
      <p:sp>
        <p:nvSpPr>
          <p:cNvPr id="34" name="Text 27"/>
          <p:cNvSpPr/>
          <p:nvPr/>
        </p:nvSpPr>
        <p:spPr>
          <a:xfrm>
            <a:off x="612648" y="4251960"/>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Spatial overlay</a:t>
            </a:r>
            <a:endParaRPr lang="en-US" sz="1400" dirty="0"/>
          </a:p>
        </p:txBody>
      </p:sp>
      <p:sp>
        <p:nvSpPr>
          <p:cNvPr id="35" name="Shape 28"/>
          <p:cNvSpPr/>
          <p:nvPr/>
        </p:nvSpPr>
        <p:spPr>
          <a:xfrm>
            <a:off x="2794406" y="3108960"/>
            <a:ext cx="2035454" cy="1417320"/>
          </a:xfrm>
          <a:prstGeom prst="roundRect">
            <a:avLst>
              <a:gd name="adj" fmla="val 4516"/>
            </a:avLst>
          </a:prstGeom>
          <a:solidFill>
            <a:srgbClr val="FFFFFF"/>
          </a:solidFill>
          <a:ln w="12700">
            <a:solidFill>
              <a:srgbClr val="C9D6E4"/>
            </a:solidFill>
            <a:prstDash val="solid"/>
          </a:ln>
        </p:spPr>
      </p:sp>
      <p:sp>
        <p:nvSpPr>
          <p:cNvPr id="36" name="Text 29"/>
          <p:cNvSpPr/>
          <p:nvPr/>
        </p:nvSpPr>
        <p:spPr>
          <a:xfrm>
            <a:off x="2904134" y="3218688"/>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INPUT</a:t>
            </a:r>
            <a:endParaRPr lang="en-US" sz="1400" dirty="0"/>
          </a:p>
        </p:txBody>
      </p:sp>
      <p:sp>
        <p:nvSpPr>
          <p:cNvPr id="37" name="Text 30"/>
          <p:cNvSpPr/>
          <p:nvPr/>
        </p:nvSpPr>
        <p:spPr>
          <a:xfrm>
            <a:off x="2904134" y="3392424"/>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Road Status</a:t>
            </a:r>
            <a:endParaRPr lang="en-US" sz="1400" dirty="0"/>
          </a:p>
        </p:txBody>
      </p:sp>
      <p:sp>
        <p:nvSpPr>
          <p:cNvPr id="38" name="Text 31"/>
          <p:cNvSpPr/>
          <p:nvPr/>
        </p:nvSpPr>
        <p:spPr>
          <a:xfrm>
            <a:off x="2904134" y="3648456"/>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OUTPUT</a:t>
            </a:r>
            <a:endParaRPr lang="en-US" sz="1400" dirty="0"/>
          </a:p>
        </p:txBody>
      </p:sp>
      <p:sp>
        <p:nvSpPr>
          <p:cNvPr id="39" name="Text 32"/>
          <p:cNvSpPr/>
          <p:nvPr/>
        </p:nvSpPr>
        <p:spPr>
          <a:xfrm>
            <a:off x="2904134" y="3822192"/>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IF Score</a:t>
            </a:r>
            <a:endParaRPr lang="en-US" sz="1400" dirty="0"/>
          </a:p>
        </p:txBody>
      </p:sp>
      <p:sp>
        <p:nvSpPr>
          <p:cNvPr id="40" name="Text 33"/>
          <p:cNvSpPr/>
          <p:nvPr/>
        </p:nvSpPr>
        <p:spPr>
          <a:xfrm>
            <a:off x="2904134" y="4078224"/>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CALC.</a:t>
            </a:r>
            <a:endParaRPr lang="en-US" sz="1400" dirty="0"/>
          </a:p>
        </p:txBody>
      </p:sp>
      <p:sp>
        <p:nvSpPr>
          <p:cNvPr id="41" name="Text 34"/>
          <p:cNvSpPr/>
          <p:nvPr/>
        </p:nvSpPr>
        <p:spPr>
          <a:xfrm>
            <a:off x="2904134" y="4251960"/>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Functionality rating</a:t>
            </a:r>
            <a:endParaRPr lang="en-US" sz="1400" dirty="0"/>
          </a:p>
        </p:txBody>
      </p:sp>
      <p:sp>
        <p:nvSpPr>
          <p:cNvPr id="42" name="Shape 35"/>
          <p:cNvSpPr/>
          <p:nvPr/>
        </p:nvSpPr>
        <p:spPr>
          <a:xfrm>
            <a:off x="5085893" y="3108960"/>
            <a:ext cx="2035454" cy="1417320"/>
          </a:xfrm>
          <a:prstGeom prst="roundRect">
            <a:avLst>
              <a:gd name="adj" fmla="val 4516"/>
            </a:avLst>
          </a:prstGeom>
          <a:solidFill>
            <a:srgbClr val="FFFFFF"/>
          </a:solidFill>
          <a:ln w="12700">
            <a:solidFill>
              <a:srgbClr val="C9D6E4"/>
            </a:solidFill>
            <a:prstDash val="solid"/>
          </a:ln>
        </p:spPr>
      </p:sp>
      <p:sp>
        <p:nvSpPr>
          <p:cNvPr id="43" name="Text 36"/>
          <p:cNvSpPr/>
          <p:nvPr/>
        </p:nvSpPr>
        <p:spPr>
          <a:xfrm>
            <a:off x="5195621" y="3218688"/>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INPUT</a:t>
            </a:r>
            <a:endParaRPr lang="en-US" sz="1400" dirty="0"/>
          </a:p>
        </p:txBody>
      </p:sp>
      <p:sp>
        <p:nvSpPr>
          <p:cNvPr id="44" name="Text 37"/>
          <p:cNvSpPr/>
          <p:nvPr/>
        </p:nvSpPr>
        <p:spPr>
          <a:xfrm>
            <a:off x="5195621" y="3392424"/>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IF + Network</a:t>
            </a:r>
            <a:endParaRPr lang="en-US" sz="1400" dirty="0"/>
          </a:p>
        </p:txBody>
      </p:sp>
      <p:sp>
        <p:nvSpPr>
          <p:cNvPr id="45" name="Text 38"/>
          <p:cNvSpPr/>
          <p:nvPr/>
        </p:nvSpPr>
        <p:spPr>
          <a:xfrm>
            <a:off x="5195621" y="3648456"/>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OUTPUT</a:t>
            </a:r>
            <a:endParaRPr lang="en-US" sz="1400" dirty="0"/>
          </a:p>
        </p:txBody>
      </p:sp>
      <p:sp>
        <p:nvSpPr>
          <p:cNvPr id="46" name="Text 39"/>
          <p:cNvSpPr/>
          <p:nvPr/>
        </p:nvSpPr>
        <p:spPr>
          <a:xfrm>
            <a:off x="5195621" y="3822192"/>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AI Score</a:t>
            </a:r>
            <a:endParaRPr lang="en-US" sz="1400" dirty="0"/>
          </a:p>
        </p:txBody>
      </p:sp>
      <p:sp>
        <p:nvSpPr>
          <p:cNvPr id="47" name="Text 40"/>
          <p:cNvSpPr/>
          <p:nvPr/>
        </p:nvSpPr>
        <p:spPr>
          <a:xfrm>
            <a:off x="5195621" y="4078224"/>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CALC.</a:t>
            </a:r>
            <a:endParaRPr lang="en-US" sz="1400" dirty="0"/>
          </a:p>
        </p:txBody>
      </p:sp>
      <p:sp>
        <p:nvSpPr>
          <p:cNvPr id="48" name="Text 41"/>
          <p:cNvSpPr/>
          <p:nvPr/>
        </p:nvSpPr>
        <p:spPr>
          <a:xfrm>
            <a:off x="5195621" y="4251960"/>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Network analysis</a:t>
            </a:r>
            <a:endParaRPr lang="en-US" sz="1400" dirty="0"/>
          </a:p>
        </p:txBody>
      </p:sp>
      <p:sp>
        <p:nvSpPr>
          <p:cNvPr id="49" name="Shape 42"/>
          <p:cNvSpPr/>
          <p:nvPr/>
        </p:nvSpPr>
        <p:spPr>
          <a:xfrm>
            <a:off x="7377379" y="3108960"/>
            <a:ext cx="2035454" cy="1417320"/>
          </a:xfrm>
          <a:prstGeom prst="roundRect">
            <a:avLst>
              <a:gd name="adj" fmla="val 4516"/>
            </a:avLst>
          </a:prstGeom>
          <a:solidFill>
            <a:srgbClr val="FFFFFF"/>
          </a:solidFill>
          <a:ln w="12700">
            <a:solidFill>
              <a:srgbClr val="C9D6E4"/>
            </a:solidFill>
            <a:prstDash val="solid"/>
          </a:ln>
        </p:spPr>
      </p:sp>
      <p:sp>
        <p:nvSpPr>
          <p:cNvPr id="50" name="Text 43"/>
          <p:cNvSpPr/>
          <p:nvPr/>
        </p:nvSpPr>
        <p:spPr>
          <a:xfrm>
            <a:off x="7487107" y="3218688"/>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INPUT</a:t>
            </a:r>
            <a:endParaRPr lang="en-US" sz="1400" dirty="0"/>
          </a:p>
        </p:txBody>
      </p:sp>
      <p:sp>
        <p:nvSpPr>
          <p:cNvPr id="51" name="Text 44"/>
          <p:cNvSpPr/>
          <p:nvPr/>
        </p:nvSpPr>
        <p:spPr>
          <a:xfrm>
            <a:off x="7487107" y="3392424"/>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Travel behaviour</a:t>
            </a:r>
            <a:endParaRPr lang="en-US" sz="1400" dirty="0"/>
          </a:p>
        </p:txBody>
      </p:sp>
      <p:sp>
        <p:nvSpPr>
          <p:cNvPr id="52" name="Text 45"/>
          <p:cNvSpPr/>
          <p:nvPr/>
        </p:nvSpPr>
        <p:spPr>
          <a:xfrm>
            <a:off x="7487107" y="3648456"/>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OUTPUT</a:t>
            </a:r>
            <a:endParaRPr lang="en-US" sz="1400" dirty="0"/>
          </a:p>
        </p:txBody>
      </p:sp>
      <p:sp>
        <p:nvSpPr>
          <p:cNvPr id="53" name="Text 46"/>
          <p:cNvSpPr/>
          <p:nvPr/>
        </p:nvSpPr>
        <p:spPr>
          <a:xfrm>
            <a:off x="7487107" y="3822192"/>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BA Score</a:t>
            </a:r>
            <a:endParaRPr lang="en-US" sz="1400" dirty="0"/>
          </a:p>
        </p:txBody>
      </p:sp>
      <p:sp>
        <p:nvSpPr>
          <p:cNvPr id="54" name="Text 47"/>
          <p:cNvSpPr/>
          <p:nvPr/>
        </p:nvSpPr>
        <p:spPr>
          <a:xfrm>
            <a:off x="7487107" y="4078224"/>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CALC.</a:t>
            </a:r>
            <a:endParaRPr lang="en-US" sz="1400" dirty="0"/>
          </a:p>
        </p:txBody>
      </p:sp>
      <p:sp>
        <p:nvSpPr>
          <p:cNvPr id="55" name="Text 48"/>
          <p:cNvSpPr/>
          <p:nvPr/>
        </p:nvSpPr>
        <p:spPr>
          <a:xfrm>
            <a:off x="7487107" y="4251960"/>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Adaptation index</a:t>
            </a:r>
            <a:endParaRPr lang="en-US" sz="1400" dirty="0"/>
          </a:p>
        </p:txBody>
      </p:sp>
      <p:sp>
        <p:nvSpPr>
          <p:cNvPr id="56" name="Shape 49"/>
          <p:cNvSpPr/>
          <p:nvPr/>
        </p:nvSpPr>
        <p:spPr>
          <a:xfrm>
            <a:off x="9668866" y="3108960"/>
            <a:ext cx="2035454" cy="1417320"/>
          </a:xfrm>
          <a:prstGeom prst="roundRect">
            <a:avLst>
              <a:gd name="adj" fmla="val 4516"/>
            </a:avLst>
          </a:prstGeom>
          <a:solidFill>
            <a:srgbClr val="FFFFFF"/>
          </a:solidFill>
          <a:ln w="12700">
            <a:solidFill>
              <a:srgbClr val="C9D6E4"/>
            </a:solidFill>
            <a:prstDash val="solid"/>
          </a:ln>
        </p:spPr>
      </p:sp>
      <p:sp>
        <p:nvSpPr>
          <p:cNvPr id="57" name="Text 50"/>
          <p:cNvSpPr/>
          <p:nvPr/>
        </p:nvSpPr>
        <p:spPr>
          <a:xfrm>
            <a:off x="9778594" y="3218688"/>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INPUT</a:t>
            </a:r>
            <a:endParaRPr lang="en-US" sz="1400" dirty="0"/>
          </a:p>
        </p:txBody>
      </p:sp>
      <p:sp>
        <p:nvSpPr>
          <p:cNvPr id="58" name="Text 51"/>
          <p:cNvSpPr/>
          <p:nvPr/>
        </p:nvSpPr>
        <p:spPr>
          <a:xfrm>
            <a:off x="9778594" y="3392424"/>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IF + AI + BA</a:t>
            </a:r>
            <a:endParaRPr lang="en-US" sz="1400" dirty="0"/>
          </a:p>
        </p:txBody>
      </p:sp>
      <p:sp>
        <p:nvSpPr>
          <p:cNvPr id="59" name="Text 52"/>
          <p:cNvSpPr/>
          <p:nvPr/>
        </p:nvSpPr>
        <p:spPr>
          <a:xfrm>
            <a:off x="9778594" y="3648456"/>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OUTPUT</a:t>
            </a:r>
            <a:endParaRPr lang="en-US" sz="1400" dirty="0"/>
          </a:p>
        </p:txBody>
      </p:sp>
      <p:sp>
        <p:nvSpPr>
          <p:cNvPr id="60" name="Text 53"/>
          <p:cNvSpPr/>
          <p:nvPr/>
        </p:nvSpPr>
        <p:spPr>
          <a:xfrm>
            <a:off x="9778594" y="3822192"/>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Historical TRI</a:t>
            </a:r>
            <a:endParaRPr lang="en-US" sz="1400" dirty="0"/>
          </a:p>
        </p:txBody>
      </p:sp>
      <p:sp>
        <p:nvSpPr>
          <p:cNvPr id="61" name="Text 54"/>
          <p:cNvSpPr/>
          <p:nvPr/>
        </p:nvSpPr>
        <p:spPr>
          <a:xfrm>
            <a:off x="9778594" y="4078224"/>
            <a:ext cx="1815998" cy="182880"/>
          </a:xfrm>
          <a:prstGeom prst="rect">
            <a:avLst/>
          </a:prstGeom>
          <a:noFill/>
          <a:ln/>
        </p:spPr>
        <p:txBody>
          <a:bodyPr wrap="square" lIns="0" tIns="0" rIns="0" bIns="0" rtlCol="0" anchor="ctr"/>
          <a:lstStyle/>
          <a:p>
            <a:pPr marL="0" indent="0">
              <a:buNone/>
            </a:pPr>
            <a:r>
              <a:rPr lang="en-US" sz="1400" b="1" kern="0" spc="50" dirty="0">
                <a:solidFill>
                  <a:srgbClr val="8A93A0"/>
                </a:solidFill>
                <a:latin typeface="Calibri" pitchFamily="34" charset="0"/>
                <a:ea typeface="Calibri" pitchFamily="34" charset="-122"/>
                <a:cs typeface="Calibri" pitchFamily="34" charset="-120"/>
              </a:rPr>
              <a:t>CALC.</a:t>
            </a:r>
            <a:endParaRPr lang="en-US" sz="1400" dirty="0"/>
          </a:p>
        </p:txBody>
      </p:sp>
      <p:sp>
        <p:nvSpPr>
          <p:cNvPr id="62" name="Text 55"/>
          <p:cNvSpPr/>
          <p:nvPr/>
        </p:nvSpPr>
        <p:spPr>
          <a:xfrm>
            <a:off x="9778594" y="4251960"/>
            <a:ext cx="1815998" cy="237744"/>
          </a:xfrm>
          <a:prstGeom prst="rect">
            <a:avLst/>
          </a:prstGeom>
          <a:noFill/>
          <a:ln/>
        </p:spPr>
        <p:txBody>
          <a:bodyPr wrap="square" lIns="0" tIns="0" rIns="0" bIns="0" rtlCol="0" anchor="ctr"/>
          <a:lstStyle/>
          <a:p>
            <a:pPr marL="0" indent="0">
              <a:buNone/>
            </a:pPr>
            <a:r>
              <a:rPr lang="en-US" sz="1400" dirty="0">
                <a:solidFill>
                  <a:srgbClr val="1B2A4A"/>
                </a:solidFill>
                <a:latin typeface="Calibri" pitchFamily="34" charset="0"/>
                <a:ea typeface="Calibri" pitchFamily="34" charset="-122"/>
                <a:cs typeface="Calibri" pitchFamily="34" charset="-120"/>
              </a:rPr>
              <a:t>Composite index</a:t>
            </a:r>
            <a:endParaRPr lang="en-US" sz="1400" dirty="0"/>
          </a:p>
        </p:txBody>
      </p:sp>
      <p:sp>
        <p:nvSpPr>
          <p:cNvPr id="63" name="Text 56"/>
          <p:cNvSpPr/>
          <p:nvPr/>
        </p:nvSpPr>
        <p:spPr>
          <a:xfrm>
            <a:off x="502920" y="6473952"/>
            <a:ext cx="7315200" cy="274320"/>
          </a:xfrm>
          <a:prstGeom prst="rect">
            <a:avLst/>
          </a:prstGeom>
          <a:noFill/>
          <a:ln/>
        </p:spPr>
        <p:txBody>
          <a:bodyPr wrap="square" lIns="0" tIns="0" rIns="0" bIns="0" rtlCol="0" anchor="ctr"/>
          <a:lstStyle/>
          <a:p>
            <a:pPr marL="0" indent="0">
              <a:buNone/>
            </a:pPr>
            <a:r>
              <a:rPr lang="en-US" sz="900" i="1" dirty="0">
                <a:solidFill>
                  <a:srgbClr val="8A93A0"/>
                </a:solidFill>
                <a:latin typeface="Calibri" pitchFamily="34" charset="0"/>
                <a:ea typeface="Calibri" pitchFamily="34" charset="-122"/>
                <a:cs typeface="Calibri" pitchFamily="34" charset="-120"/>
              </a:rPr>
              <a:t>IF, AI, BA, and TRI colour coding is consistent with the overall framework.</a:t>
            </a:r>
            <a:endParaRPr lang="en-US" sz="900" dirty="0"/>
          </a:p>
        </p:txBody>
      </p:sp>
      <p:sp>
        <p:nvSpPr>
          <p:cNvPr id="64"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METHODOLOGY - PART II</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Machine Learning Framework</a:t>
            </a:r>
            <a:endParaRPr lang="en-US" sz="2800" dirty="0"/>
          </a:p>
        </p:txBody>
      </p:sp>
      <p:sp>
        <p:nvSpPr>
          <p:cNvPr id="4" name="Shape 2"/>
          <p:cNvSpPr/>
          <p:nvPr/>
        </p:nvSpPr>
        <p:spPr>
          <a:xfrm>
            <a:off x="502920" y="1417320"/>
            <a:ext cx="2079346" cy="566928"/>
          </a:xfrm>
          <a:prstGeom prst="roundRect">
            <a:avLst>
              <a:gd name="adj" fmla="val 11290"/>
            </a:avLst>
          </a:prstGeom>
          <a:solidFill>
            <a:srgbClr val="1B2A4A"/>
          </a:solidFill>
          <a:ln/>
        </p:spPr>
      </p:sp>
      <p:sp>
        <p:nvSpPr>
          <p:cNvPr id="5" name="Text 3"/>
          <p:cNvSpPr/>
          <p:nvPr/>
        </p:nvSpPr>
        <p:spPr>
          <a:xfrm>
            <a:off x="576072" y="1417320"/>
            <a:ext cx="1933042" cy="566928"/>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Historical TRI Database</a:t>
            </a:r>
            <a:endParaRPr lang="en-US" sz="1400" dirty="0"/>
          </a:p>
        </p:txBody>
      </p:sp>
      <p:sp>
        <p:nvSpPr>
          <p:cNvPr id="6" name="Shape 4"/>
          <p:cNvSpPr/>
          <p:nvPr/>
        </p:nvSpPr>
        <p:spPr>
          <a:xfrm>
            <a:off x="2591410" y="1636776"/>
            <a:ext cx="147218" cy="128016"/>
          </a:xfrm>
          <a:prstGeom prst="rightArrow">
            <a:avLst/>
          </a:prstGeom>
          <a:solidFill>
            <a:srgbClr val="8A93A0"/>
          </a:solidFill>
          <a:ln/>
        </p:spPr>
      </p:sp>
      <p:sp>
        <p:nvSpPr>
          <p:cNvPr id="7" name="Shape 5"/>
          <p:cNvSpPr/>
          <p:nvPr/>
        </p:nvSpPr>
        <p:spPr>
          <a:xfrm>
            <a:off x="2783434" y="1417320"/>
            <a:ext cx="2079346" cy="566928"/>
          </a:xfrm>
          <a:prstGeom prst="roundRect">
            <a:avLst>
              <a:gd name="adj" fmla="val 11290"/>
            </a:avLst>
          </a:prstGeom>
          <a:solidFill>
            <a:srgbClr val="F4F8FC"/>
          </a:solidFill>
          <a:ln w="12700">
            <a:solidFill>
              <a:srgbClr val="C9D6E4"/>
            </a:solidFill>
            <a:prstDash val="solid"/>
          </a:ln>
        </p:spPr>
      </p:sp>
      <p:sp>
        <p:nvSpPr>
          <p:cNvPr id="8" name="Text 6"/>
          <p:cNvSpPr/>
          <p:nvPr/>
        </p:nvSpPr>
        <p:spPr>
          <a:xfrm>
            <a:off x="2856586" y="1417320"/>
            <a:ext cx="1933042" cy="566928"/>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Master Dataset</a:t>
            </a:r>
            <a:endParaRPr lang="en-US" sz="1400" dirty="0"/>
          </a:p>
        </p:txBody>
      </p:sp>
      <p:sp>
        <p:nvSpPr>
          <p:cNvPr id="9" name="Shape 7"/>
          <p:cNvSpPr/>
          <p:nvPr/>
        </p:nvSpPr>
        <p:spPr>
          <a:xfrm>
            <a:off x="4871923" y="1636776"/>
            <a:ext cx="147218" cy="128016"/>
          </a:xfrm>
          <a:prstGeom prst="rightArrow">
            <a:avLst/>
          </a:prstGeom>
          <a:solidFill>
            <a:srgbClr val="8A93A0"/>
          </a:solidFill>
          <a:ln/>
        </p:spPr>
      </p:sp>
      <p:sp>
        <p:nvSpPr>
          <p:cNvPr id="10" name="Shape 8"/>
          <p:cNvSpPr/>
          <p:nvPr/>
        </p:nvSpPr>
        <p:spPr>
          <a:xfrm>
            <a:off x="5063947" y="1417320"/>
            <a:ext cx="2079346" cy="566928"/>
          </a:xfrm>
          <a:prstGeom prst="roundRect">
            <a:avLst>
              <a:gd name="adj" fmla="val 11290"/>
            </a:avLst>
          </a:prstGeom>
          <a:solidFill>
            <a:srgbClr val="F4F8FC"/>
          </a:solidFill>
          <a:ln w="12700">
            <a:solidFill>
              <a:srgbClr val="C9D6E4"/>
            </a:solidFill>
            <a:prstDash val="solid"/>
          </a:ln>
        </p:spPr>
      </p:sp>
      <p:sp>
        <p:nvSpPr>
          <p:cNvPr id="11" name="Text 9"/>
          <p:cNvSpPr/>
          <p:nvPr/>
        </p:nvSpPr>
        <p:spPr>
          <a:xfrm>
            <a:off x="5137099" y="1417320"/>
            <a:ext cx="1933042" cy="566928"/>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Feature Engineering</a:t>
            </a:r>
            <a:endParaRPr lang="en-US" sz="1400" dirty="0"/>
          </a:p>
        </p:txBody>
      </p:sp>
      <p:sp>
        <p:nvSpPr>
          <p:cNvPr id="12" name="Shape 10"/>
          <p:cNvSpPr/>
          <p:nvPr/>
        </p:nvSpPr>
        <p:spPr>
          <a:xfrm>
            <a:off x="7152437" y="1636776"/>
            <a:ext cx="147218" cy="128016"/>
          </a:xfrm>
          <a:prstGeom prst="rightArrow">
            <a:avLst/>
          </a:prstGeom>
          <a:solidFill>
            <a:srgbClr val="8A93A0"/>
          </a:solidFill>
          <a:ln/>
        </p:spPr>
      </p:sp>
      <p:sp>
        <p:nvSpPr>
          <p:cNvPr id="13" name="Shape 11"/>
          <p:cNvSpPr/>
          <p:nvPr/>
        </p:nvSpPr>
        <p:spPr>
          <a:xfrm>
            <a:off x="7344461" y="1417320"/>
            <a:ext cx="2079346" cy="566928"/>
          </a:xfrm>
          <a:prstGeom prst="roundRect">
            <a:avLst>
              <a:gd name="adj" fmla="val 11290"/>
            </a:avLst>
          </a:prstGeom>
          <a:solidFill>
            <a:srgbClr val="F4F8FC"/>
          </a:solidFill>
          <a:ln w="12700">
            <a:solidFill>
              <a:srgbClr val="C9D6E4"/>
            </a:solidFill>
            <a:prstDash val="solid"/>
          </a:ln>
        </p:spPr>
      </p:sp>
      <p:sp>
        <p:nvSpPr>
          <p:cNvPr id="14" name="Text 12"/>
          <p:cNvSpPr/>
          <p:nvPr/>
        </p:nvSpPr>
        <p:spPr>
          <a:xfrm>
            <a:off x="7417613" y="1417320"/>
            <a:ext cx="1933042" cy="566928"/>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Training Dataset</a:t>
            </a:r>
            <a:endParaRPr lang="en-US" sz="1400" dirty="0"/>
          </a:p>
        </p:txBody>
      </p:sp>
      <p:sp>
        <p:nvSpPr>
          <p:cNvPr id="15" name="Shape 13"/>
          <p:cNvSpPr/>
          <p:nvPr/>
        </p:nvSpPr>
        <p:spPr>
          <a:xfrm>
            <a:off x="9432950" y="1636776"/>
            <a:ext cx="147218" cy="128016"/>
          </a:xfrm>
          <a:prstGeom prst="rightArrow">
            <a:avLst/>
          </a:prstGeom>
          <a:solidFill>
            <a:srgbClr val="8A93A0"/>
          </a:solidFill>
          <a:ln/>
        </p:spPr>
      </p:sp>
      <p:sp>
        <p:nvSpPr>
          <p:cNvPr id="16" name="Shape 14"/>
          <p:cNvSpPr/>
          <p:nvPr/>
        </p:nvSpPr>
        <p:spPr>
          <a:xfrm>
            <a:off x="9624974" y="1417320"/>
            <a:ext cx="2079346" cy="566928"/>
          </a:xfrm>
          <a:prstGeom prst="roundRect">
            <a:avLst>
              <a:gd name="adj" fmla="val 11290"/>
            </a:avLst>
          </a:prstGeom>
          <a:solidFill>
            <a:srgbClr val="F4F8FC"/>
          </a:solidFill>
          <a:ln w="12700">
            <a:solidFill>
              <a:srgbClr val="C9D6E4"/>
            </a:solidFill>
            <a:prstDash val="solid"/>
          </a:ln>
        </p:spPr>
      </p:sp>
      <p:sp>
        <p:nvSpPr>
          <p:cNvPr id="17" name="Text 15"/>
          <p:cNvSpPr/>
          <p:nvPr/>
        </p:nvSpPr>
        <p:spPr>
          <a:xfrm>
            <a:off x="9698126" y="1417320"/>
            <a:ext cx="1933042" cy="566928"/>
          </a:xfrm>
          <a:prstGeom prst="rect">
            <a:avLst/>
          </a:prstGeom>
          <a:noFill/>
          <a:ln/>
        </p:spPr>
        <p:txBody>
          <a:bodyPr wrap="square" lIns="0" tIns="0" rIns="0" bIns="0" rtlCol="0" anchor="ctr"/>
          <a:lstStyle/>
          <a:p>
            <a:pPr marL="0" indent="0" algn="ctr">
              <a:lnSpc>
                <a:spcPct val="100000"/>
              </a:lnSpc>
              <a:buNone/>
            </a:pPr>
            <a:r>
              <a:rPr lang="en-US" sz="1400" b="1" dirty="0">
                <a:solidFill>
                  <a:srgbClr val="1B2A4A"/>
                </a:solidFill>
                <a:latin typeface="Calibri" pitchFamily="34" charset="0"/>
                <a:ea typeface="Calibri" pitchFamily="34" charset="-122"/>
                <a:cs typeface="Calibri" pitchFamily="34" charset="-120"/>
              </a:rPr>
              <a:t>Train / Test Split</a:t>
            </a:r>
            <a:endParaRPr lang="en-US" sz="1400" dirty="0"/>
          </a:p>
        </p:txBody>
      </p:sp>
      <p:sp>
        <p:nvSpPr>
          <p:cNvPr id="18" name="Shape 16"/>
          <p:cNvSpPr/>
          <p:nvPr/>
        </p:nvSpPr>
        <p:spPr>
          <a:xfrm>
            <a:off x="6030468" y="2039112"/>
            <a:ext cx="146304" cy="168250"/>
          </a:xfrm>
          <a:prstGeom prst="downArrow">
            <a:avLst/>
          </a:prstGeom>
          <a:solidFill>
            <a:srgbClr val="8A93A0"/>
          </a:solidFill>
          <a:ln/>
        </p:spPr>
      </p:sp>
      <p:sp>
        <p:nvSpPr>
          <p:cNvPr id="19" name="Text 17"/>
          <p:cNvSpPr/>
          <p:nvPr/>
        </p:nvSpPr>
        <p:spPr>
          <a:xfrm>
            <a:off x="502920" y="2258568"/>
            <a:ext cx="11201400" cy="292608"/>
          </a:xfrm>
          <a:prstGeom prst="rect">
            <a:avLst/>
          </a:prstGeom>
          <a:noFill/>
          <a:ln/>
        </p:spPr>
        <p:txBody>
          <a:bodyPr wrap="square" lIns="0" tIns="0" rIns="0" bIns="0" rtlCol="0" anchor="ctr"/>
          <a:lstStyle/>
          <a:p>
            <a:pPr marL="0" indent="0" algn="ctr">
              <a:buNone/>
            </a:pPr>
            <a:r>
              <a:rPr lang="en-US" sz="1500" b="1" dirty="0">
                <a:solidFill>
                  <a:srgbClr val="1B2A4A"/>
                </a:solidFill>
                <a:latin typeface="Cambria" pitchFamily="34" charset="0"/>
                <a:ea typeface="Cambria" pitchFamily="34" charset="-122"/>
                <a:cs typeface="Cambria" pitchFamily="34" charset="-120"/>
              </a:rPr>
              <a:t>Four Prediction Models</a:t>
            </a:r>
            <a:endParaRPr lang="en-US" sz="1500" dirty="0"/>
          </a:p>
        </p:txBody>
      </p:sp>
      <p:sp>
        <p:nvSpPr>
          <p:cNvPr id="20" name="Shape 18"/>
          <p:cNvSpPr/>
          <p:nvPr/>
        </p:nvSpPr>
        <p:spPr>
          <a:xfrm>
            <a:off x="502920" y="2660904"/>
            <a:ext cx="2594610" cy="1417320"/>
          </a:xfrm>
          <a:prstGeom prst="roundRect">
            <a:avLst>
              <a:gd name="adj" fmla="val 5806"/>
            </a:avLst>
          </a:prstGeom>
          <a:solidFill>
            <a:srgbClr val="1F4E8C"/>
          </a:solidFill>
          <a:ln/>
          <a:effectLst>
            <a:outerShdw blurRad="76200" dist="25400" dir="5400000" algn="bl" rotWithShape="0">
              <a:srgbClr val="9AA7B5">
                <a:alpha val="28000"/>
              </a:srgbClr>
            </a:outerShdw>
          </a:effectLst>
        </p:spPr>
      </p:sp>
      <p:sp>
        <p:nvSpPr>
          <p:cNvPr id="21" name="Shape 19"/>
          <p:cNvSpPr/>
          <p:nvPr/>
        </p:nvSpPr>
        <p:spPr>
          <a:xfrm>
            <a:off x="1507617" y="2843784"/>
            <a:ext cx="585216" cy="585216"/>
          </a:xfrm>
          <a:prstGeom prst="ellipse">
            <a:avLst/>
          </a:prstGeom>
          <a:solidFill>
            <a:srgbClr val="FFFFFF">
              <a:alpha val="18000"/>
            </a:srgbClr>
          </a:solidFill>
          <a:ln/>
        </p:spPr>
      </p:sp>
      <p:pic>
        <p:nvPicPr>
          <p:cNvPr id="22" name="Image 0" descr="/home/claude/tr_pptx/icons/modechange_white.png"/>
          <p:cNvPicPr>
            <a:picLocks noChangeAspect="1"/>
          </p:cNvPicPr>
          <p:nvPr/>
        </p:nvPicPr>
        <p:blipFill>
          <a:blip r:embed="rId3"/>
          <a:stretch>
            <a:fillRect/>
          </a:stretch>
        </p:blipFill>
        <p:spPr>
          <a:xfrm>
            <a:off x="1636365" y="2972532"/>
            <a:ext cx="327721" cy="327721"/>
          </a:xfrm>
          <a:prstGeom prst="rect">
            <a:avLst/>
          </a:prstGeom>
        </p:spPr>
      </p:pic>
      <p:sp>
        <p:nvSpPr>
          <p:cNvPr id="23" name="Text 20"/>
          <p:cNvSpPr/>
          <p:nvPr/>
        </p:nvSpPr>
        <p:spPr>
          <a:xfrm>
            <a:off x="576072" y="3575304"/>
            <a:ext cx="2448306" cy="411480"/>
          </a:xfrm>
          <a:prstGeom prst="rect">
            <a:avLst/>
          </a:prstGeom>
          <a:noFill/>
          <a:ln/>
        </p:spPr>
        <p:txBody>
          <a:bodyPr wrap="square" lIns="0" tIns="0" rIns="0" bIns="0" rtlCol="0" anchor="t"/>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Mode Change</a:t>
            </a:r>
            <a:endParaRPr lang="en-US" sz="1250" dirty="0"/>
          </a:p>
        </p:txBody>
      </p:sp>
      <p:sp>
        <p:nvSpPr>
          <p:cNvPr id="24" name="Shape 21"/>
          <p:cNvSpPr/>
          <p:nvPr/>
        </p:nvSpPr>
        <p:spPr>
          <a:xfrm>
            <a:off x="3371850" y="2660904"/>
            <a:ext cx="2594610" cy="1417320"/>
          </a:xfrm>
          <a:prstGeom prst="roundRect">
            <a:avLst>
              <a:gd name="adj" fmla="val 5806"/>
            </a:avLst>
          </a:prstGeom>
          <a:solidFill>
            <a:srgbClr val="2E86C1"/>
          </a:solidFill>
          <a:ln/>
          <a:effectLst>
            <a:outerShdw blurRad="76200" dist="25400" dir="5400000" algn="bl" rotWithShape="0">
              <a:srgbClr val="9AA7B5">
                <a:alpha val="28000"/>
              </a:srgbClr>
            </a:outerShdw>
          </a:effectLst>
        </p:spPr>
      </p:sp>
      <p:sp>
        <p:nvSpPr>
          <p:cNvPr id="25" name="Shape 22"/>
          <p:cNvSpPr/>
          <p:nvPr/>
        </p:nvSpPr>
        <p:spPr>
          <a:xfrm>
            <a:off x="4376547" y="2843784"/>
            <a:ext cx="585216" cy="585216"/>
          </a:xfrm>
          <a:prstGeom prst="ellipse">
            <a:avLst/>
          </a:prstGeom>
          <a:solidFill>
            <a:srgbClr val="FFFFFF">
              <a:alpha val="18000"/>
            </a:srgbClr>
          </a:solidFill>
          <a:ln/>
        </p:spPr>
      </p:sp>
      <p:pic>
        <p:nvPicPr>
          <p:cNvPr id="26" name="Image 1" descr="/home/claude/tr_pptx/icons/cancellation_white.png"/>
          <p:cNvPicPr>
            <a:picLocks noChangeAspect="1"/>
          </p:cNvPicPr>
          <p:nvPr/>
        </p:nvPicPr>
        <p:blipFill>
          <a:blip r:embed="rId4"/>
          <a:stretch>
            <a:fillRect/>
          </a:stretch>
        </p:blipFill>
        <p:spPr>
          <a:xfrm>
            <a:off x="4505295" y="2972532"/>
            <a:ext cx="327721" cy="327721"/>
          </a:xfrm>
          <a:prstGeom prst="rect">
            <a:avLst/>
          </a:prstGeom>
        </p:spPr>
      </p:pic>
      <p:sp>
        <p:nvSpPr>
          <p:cNvPr id="27" name="Text 23"/>
          <p:cNvSpPr/>
          <p:nvPr/>
        </p:nvSpPr>
        <p:spPr>
          <a:xfrm>
            <a:off x="3445002" y="3575304"/>
            <a:ext cx="2448306" cy="411480"/>
          </a:xfrm>
          <a:prstGeom prst="rect">
            <a:avLst/>
          </a:prstGeom>
          <a:noFill/>
          <a:ln/>
        </p:spPr>
        <p:txBody>
          <a:bodyPr wrap="square" lIns="0" tIns="0" rIns="0" bIns="0" rtlCol="0" anchor="t"/>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Trip Cancellation</a:t>
            </a:r>
            <a:endParaRPr lang="en-US" sz="1250" dirty="0"/>
          </a:p>
        </p:txBody>
      </p:sp>
      <p:sp>
        <p:nvSpPr>
          <p:cNvPr id="28" name="Shape 24"/>
          <p:cNvSpPr/>
          <p:nvPr/>
        </p:nvSpPr>
        <p:spPr>
          <a:xfrm>
            <a:off x="6240780" y="2660904"/>
            <a:ext cx="2594610" cy="1417320"/>
          </a:xfrm>
          <a:prstGeom prst="roundRect">
            <a:avLst>
              <a:gd name="adj" fmla="val 5806"/>
            </a:avLst>
          </a:prstGeom>
          <a:solidFill>
            <a:srgbClr val="5FA8D3"/>
          </a:solidFill>
          <a:ln/>
          <a:effectLst>
            <a:outerShdw blurRad="76200" dist="25400" dir="5400000" algn="bl" rotWithShape="0">
              <a:srgbClr val="9AA7B5">
                <a:alpha val="28000"/>
              </a:srgbClr>
            </a:outerShdw>
          </a:effectLst>
        </p:spPr>
      </p:sp>
      <p:sp>
        <p:nvSpPr>
          <p:cNvPr id="29" name="Shape 25"/>
          <p:cNvSpPr/>
          <p:nvPr/>
        </p:nvSpPr>
        <p:spPr>
          <a:xfrm>
            <a:off x="7245477" y="2843784"/>
            <a:ext cx="585216" cy="585216"/>
          </a:xfrm>
          <a:prstGeom prst="ellipse">
            <a:avLst/>
          </a:prstGeom>
          <a:solidFill>
            <a:srgbClr val="FFFFFF">
              <a:alpha val="18000"/>
            </a:srgbClr>
          </a:solidFill>
          <a:ln/>
        </p:spPr>
      </p:sp>
      <p:pic>
        <p:nvPicPr>
          <p:cNvPr id="30" name="Image 2" descr="/home/claude/tr_pptx/icons/routedev_white.png"/>
          <p:cNvPicPr>
            <a:picLocks noChangeAspect="1"/>
          </p:cNvPicPr>
          <p:nvPr/>
        </p:nvPicPr>
        <p:blipFill>
          <a:blip r:embed="rId5"/>
          <a:stretch>
            <a:fillRect/>
          </a:stretch>
        </p:blipFill>
        <p:spPr>
          <a:xfrm>
            <a:off x="7374225" y="2972532"/>
            <a:ext cx="327721" cy="327721"/>
          </a:xfrm>
          <a:prstGeom prst="rect">
            <a:avLst/>
          </a:prstGeom>
        </p:spPr>
      </p:pic>
      <p:sp>
        <p:nvSpPr>
          <p:cNvPr id="31" name="Text 26"/>
          <p:cNvSpPr/>
          <p:nvPr/>
        </p:nvSpPr>
        <p:spPr>
          <a:xfrm>
            <a:off x="6313932" y="3575304"/>
            <a:ext cx="2448306" cy="411480"/>
          </a:xfrm>
          <a:prstGeom prst="rect">
            <a:avLst/>
          </a:prstGeom>
          <a:noFill/>
          <a:ln/>
        </p:spPr>
        <p:txBody>
          <a:bodyPr wrap="square" lIns="0" tIns="0" rIns="0" bIns="0" rtlCol="0" anchor="t"/>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Route Deviation</a:t>
            </a:r>
            <a:endParaRPr lang="en-US" sz="1250" dirty="0"/>
          </a:p>
        </p:txBody>
      </p:sp>
      <p:sp>
        <p:nvSpPr>
          <p:cNvPr id="32" name="Shape 27"/>
          <p:cNvSpPr/>
          <p:nvPr/>
        </p:nvSpPr>
        <p:spPr>
          <a:xfrm>
            <a:off x="9109710" y="2660904"/>
            <a:ext cx="2594610" cy="1417320"/>
          </a:xfrm>
          <a:prstGeom prst="roundRect">
            <a:avLst>
              <a:gd name="adj" fmla="val 5806"/>
            </a:avLst>
          </a:prstGeom>
          <a:solidFill>
            <a:srgbClr val="12253B"/>
          </a:solidFill>
          <a:ln/>
          <a:effectLst>
            <a:outerShdw blurRad="76200" dist="25400" dir="5400000" algn="bl" rotWithShape="0">
              <a:srgbClr val="9AA7B5">
                <a:alpha val="28000"/>
              </a:srgbClr>
            </a:outerShdw>
          </a:effectLst>
        </p:spPr>
      </p:sp>
      <p:sp>
        <p:nvSpPr>
          <p:cNvPr id="33" name="Shape 28"/>
          <p:cNvSpPr/>
          <p:nvPr/>
        </p:nvSpPr>
        <p:spPr>
          <a:xfrm>
            <a:off x="10114407" y="2843784"/>
            <a:ext cx="585216" cy="585216"/>
          </a:xfrm>
          <a:prstGeom prst="ellipse">
            <a:avLst/>
          </a:prstGeom>
          <a:solidFill>
            <a:srgbClr val="FFFFFF">
              <a:alpha val="18000"/>
            </a:srgbClr>
          </a:solidFill>
          <a:ln/>
        </p:spPr>
      </p:sp>
      <p:pic>
        <p:nvPicPr>
          <p:cNvPr id="34" name="Image 3" descr="/home/claude/tr_pptx/icons/delay_white.png"/>
          <p:cNvPicPr>
            <a:picLocks noChangeAspect="1"/>
          </p:cNvPicPr>
          <p:nvPr/>
        </p:nvPicPr>
        <p:blipFill>
          <a:blip r:embed="rId6"/>
          <a:stretch>
            <a:fillRect/>
          </a:stretch>
        </p:blipFill>
        <p:spPr>
          <a:xfrm>
            <a:off x="10243155" y="2972532"/>
            <a:ext cx="327721" cy="327721"/>
          </a:xfrm>
          <a:prstGeom prst="rect">
            <a:avLst/>
          </a:prstGeom>
        </p:spPr>
      </p:pic>
      <p:sp>
        <p:nvSpPr>
          <p:cNvPr id="35" name="Text 29"/>
          <p:cNvSpPr/>
          <p:nvPr/>
        </p:nvSpPr>
        <p:spPr>
          <a:xfrm>
            <a:off x="9182862" y="3575304"/>
            <a:ext cx="2448306" cy="411480"/>
          </a:xfrm>
          <a:prstGeom prst="rect">
            <a:avLst/>
          </a:prstGeom>
          <a:noFill/>
          <a:ln/>
        </p:spPr>
        <p:txBody>
          <a:bodyPr wrap="square" lIns="0" tIns="0" rIns="0" bIns="0" rtlCol="0" anchor="t"/>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Travel Delay</a:t>
            </a:r>
            <a:endParaRPr lang="en-US" sz="1250" dirty="0"/>
          </a:p>
        </p:txBody>
      </p:sp>
      <p:sp>
        <p:nvSpPr>
          <p:cNvPr id="36" name="Shape 30"/>
          <p:cNvSpPr/>
          <p:nvPr/>
        </p:nvSpPr>
        <p:spPr>
          <a:xfrm>
            <a:off x="6030468" y="4133088"/>
            <a:ext cx="146304" cy="168250"/>
          </a:xfrm>
          <a:prstGeom prst="downArrow">
            <a:avLst/>
          </a:prstGeom>
          <a:solidFill>
            <a:srgbClr val="8A93A0"/>
          </a:solidFill>
          <a:ln/>
        </p:spPr>
      </p:sp>
      <p:sp>
        <p:nvSpPr>
          <p:cNvPr id="37" name="Shape 31"/>
          <p:cNvSpPr/>
          <p:nvPr/>
        </p:nvSpPr>
        <p:spPr>
          <a:xfrm>
            <a:off x="502920" y="4352544"/>
            <a:ext cx="5463540" cy="566928"/>
          </a:xfrm>
          <a:prstGeom prst="roundRect">
            <a:avLst>
              <a:gd name="adj" fmla="val 12903"/>
            </a:avLst>
          </a:prstGeom>
          <a:solidFill>
            <a:srgbClr val="F4F8FC"/>
          </a:solidFill>
          <a:ln w="12700">
            <a:solidFill>
              <a:srgbClr val="C9D6E4"/>
            </a:solidFill>
            <a:prstDash val="solid"/>
          </a:ln>
        </p:spPr>
      </p:sp>
      <p:sp>
        <p:nvSpPr>
          <p:cNvPr id="38" name="Text 32"/>
          <p:cNvSpPr/>
          <p:nvPr/>
        </p:nvSpPr>
        <p:spPr>
          <a:xfrm>
            <a:off x="576072" y="4352544"/>
            <a:ext cx="5317236" cy="566928"/>
          </a:xfrm>
          <a:prstGeom prst="rect">
            <a:avLst/>
          </a:prstGeom>
          <a:noFill/>
          <a:ln/>
        </p:spPr>
        <p:txBody>
          <a:bodyPr wrap="square" lIns="0" tIns="0" rIns="0" bIns="0" rtlCol="0" anchor="ctr"/>
          <a:lstStyle/>
          <a:p>
            <a:pPr marL="0" indent="0" algn="ctr">
              <a:lnSpc>
                <a:spcPct val="100000"/>
              </a:lnSpc>
              <a:buNone/>
            </a:pPr>
            <a:r>
              <a:rPr lang="en-US" sz="1250" b="1" dirty="0">
                <a:solidFill>
                  <a:srgbClr val="1B2A4A"/>
                </a:solidFill>
                <a:latin typeface="Calibri" pitchFamily="34" charset="0"/>
                <a:ea typeface="Calibri" pitchFamily="34" charset="-122"/>
                <a:cs typeface="Calibri" pitchFamily="34" charset="-120"/>
              </a:rPr>
              <a:t>Predicted Traveller Behaviour</a:t>
            </a:r>
            <a:endParaRPr lang="en-US" sz="1250" dirty="0"/>
          </a:p>
        </p:txBody>
      </p:sp>
      <p:sp>
        <p:nvSpPr>
          <p:cNvPr id="39" name="Shape 33"/>
          <p:cNvSpPr/>
          <p:nvPr/>
        </p:nvSpPr>
        <p:spPr>
          <a:xfrm>
            <a:off x="6240780" y="4352544"/>
            <a:ext cx="5463540" cy="566928"/>
          </a:xfrm>
          <a:prstGeom prst="roundRect">
            <a:avLst>
              <a:gd name="adj" fmla="val 12903"/>
            </a:avLst>
          </a:prstGeom>
          <a:solidFill>
            <a:srgbClr val="5FA8D3"/>
          </a:solidFill>
          <a:ln/>
        </p:spPr>
      </p:sp>
      <p:sp>
        <p:nvSpPr>
          <p:cNvPr id="40" name="Text 34"/>
          <p:cNvSpPr/>
          <p:nvPr/>
        </p:nvSpPr>
        <p:spPr>
          <a:xfrm>
            <a:off x="6313932" y="4352544"/>
            <a:ext cx="5317236" cy="566928"/>
          </a:xfrm>
          <a:prstGeom prst="rect">
            <a:avLst/>
          </a:prstGeom>
          <a:noFill/>
          <a:ln/>
        </p:spPr>
        <p:txBody>
          <a:bodyPr wrap="square" lIns="0" tIns="0" rIns="0" bIns="0"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Predicted BA</a:t>
            </a:r>
            <a:endParaRPr lang="en-US" sz="1250" dirty="0"/>
          </a:p>
        </p:txBody>
      </p:sp>
      <p:sp>
        <p:nvSpPr>
          <p:cNvPr id="41"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METHODOLOGY - PART III</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Future Scenario Framework</a:t>
            </a:r>
            <a:endParaRPr lang="en-US" sz="2800" dirty="0"/>
          </a:p>
        </p:txBody>
      </p:sp>
      <p:sp>
        <p:nvSpPr>
          <p:cNvPr id="4" name="Shape 2"/>
          <p:cNvSpPr/>
          <p:nvPr/>
        </p:nvSpPr>
        <p:spPr>
          <a:xfrm>
            <a:off x="502920" y="1371600"/>
            <a:ext cx="5349240" cy="530352"/>
          </a:xfrm>
          <a:prstGeom prst="roundRect">
            <a:avLst>
              <a:gd name="adj" fmla="val 12069"/>
            </a:avLst>
          </a:prstGeom>
          <a:solidFill>
            <a:srgbClr val="F4F8FC"/>
          </a:solidFill>
          <a:ln w="12700">
            <a:solidFill>
              <a:srgbClr val="C9D6E4"/>
            </a:solidFill>
            <a:prstDash val="solid"/>
          </a:ln>
        </p:spPr>
      </p:sp>
      <p:sp>
        <p:nvSpPr>
          <p:cNvPr id="5" name="Text 3"/>
          <p:cNvSpPr/>
          <p:nvPr/>
        </p:nvSpPr>
        <p:spPr>
          <a:xfrm>
            <a:off x="576072" y="1371600"/>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1B2A4A"/>
                </a:solidFill>
                <a:latin typeface="Calibri" pitchFamily="34" charset="0"/>
                <a:ea typeface="Calibri" pitchFamily="34" charset="-122"/>
                <a:cs typeface="Calibri" pitchFamily="34" charset="-120"/>
              </a:rPr>
              <a:t>Future Flood Scenario</a:t>
            </a:r>
            <a:endParaRPr lang="en-US" sz="1200" dirty="0"/>
          </a:p>
        </p:txBody>
      </p:sp>
      <p:sp>
        <p:nvSpPr>
          <p:cNvPr id="6" name="Shape 4"/>
          <p:cNvSpPr/>
          <p:nvPr/>
        </p:nvSpPr>
        <p:spPr>
          <a:xfrm>
            <a:off x="3118104" y="1901952"/>
            <a:ext cx="118872" cy="136703"/>
          </a:xfrm>
          <a:prstGeom prst="downArrow">
            <a:avLst/>
          </a:prstGeom>
          <a:solidFill>
            <a:srgbClr val="8A93A0"/>
          </a:solidFill>
          <a:ln/>
        </p:spPr>
      </p:sp>
      <p:sp>
        <p:nvSpPr>
          <p:cNvPr id="7" name="Shape 5"/>
          <p:cNvSpPr/>
          <p:nvPr/>
        </p:nvSpPr>
        <p:spPr>
          <a:xfrm>
            <a:off x="502920" y="2029968"/>
            <a:ext cx="5349240" cy="530352"/>
          </a:xfrm>
          <a:prstGeom prst="roundRect">
            <a:avLst>
              <a:gd name="adj" fmla="val 12069"/>
            </a:avLst>
          </a:prstGeom>
          <a:solidFill>
            <a:srgbClr val="FFFFFF"/>
          </a:solidFill>
          <a:ln w="12700">
            <a:solidFill>
              <a:srgbClr val="C9D6E4"/>
            </a:solidFill>
            <a:prstDash val="solid"/>
          </a:ln>
        </p:spPr>
      </p:sp>
      <p:sp>
        <p:nvSpPr>
          <p:cNvPr id="8" name="Text 6"/>
          <p:cNvSpPr/>
          <p:nvPr/>
        </p:nvSpPr>
        <p:spPr>
          <a:xfrm>
            <a:off x="576072" y="2029968"/>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1B2A4A"/>
                </a:solidFill>
                <a:latin typeface="Calibri" pitchFamily="34" charset="0"/>
                <a:ea typeface="Calibri" pitchFamily="34" charset="-122"/>
                <a:cs typeface="Calibri" pitchFamily="34" charset="-120"/>
              </a:rPr>
              <a:t>Future Flood Raster</a:t>
            </a:r>
            <a:endParaRPr lang="en-US" sz="1200" dirty="0"/>
          </a:p>
        </p:txBody>
      </p:sp>
      <p:sp>
        <p:nvSpPr>
          <p:cNvPr id="9" name="Shape 7"/>
          <p:cNvSpPr/>
          <p:nvPr/>
        </p:nvSpPr>
        <p:spPr>
          <a:xfrm>
            <a:off x="3118104" y="2560320"/>
            <a:ext cx="118872" cy="136703"/>
          </a:xfrm>
          <a:prstGeom prst="downArrow">
            <a:avLst/>
          </a:prstGeom>
          <a:solidFill>
            <a:srgbClr val="8A93A0"/>
          </a:solidFill>
          <a:ln/>
        </p:spPr>
      </p:sp>
      <p:sp>
        <p:nvSpPr>
          <p:cNvPr id="10" name="Shape 8"/>
          <p:cNvSpPr/>
          <p:nvPr/>
        </p:nvSpPr>
        <p:spPr>
          <a:xfrm>
            <a:off x="502920" y="2688336"/>
            <a:ext cx="5349240" cy="530352"/>
          </a:xfrm>
          <a:prstGeom prst="roundRect">
            <a:avLst>
              <a:gd name="adj" fmla="val 12069"/>
            </a:avLst>
          </a:prstGeom>
          <a:solidFill>
            <a:srgbClr val="1F4E8C"/>
          </a:solidFill>
          <a:ln/>
        </p:spPr>
      </p:sp>
      <p:sp>
        <p:nvSpPr>
          <p:cNvPr id="11" name="Text 9"/>
          <p:cNvSpPr/>
          <p:nvPr/>
        </p:nvSpPr>
        <p:spPr>
          <a:xfrm>
            <a:off x="576072" y="2688336"/>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Future Infrastructure Functionality (IF)</a:t>
            </a:r>
            <a:endParaRPr lang="en-US" sz="1200" dirty="0"/>
          </a:p>
        </p:txBody>
      </p:sp>
      <p:sp>
        <p:nvSpPr>
          <p:cNvPr id="12" name="Shape 10"/>
          <p:cNvSpPr/>
          <p:nvPr/>
        </p:nvSpPr>
        <p:spPr>
          <a:xfrm>
            <a:off x="3118104" y="3218688"/>
            <a:ext cx="118872" cy="136703"/>
          </a:xfrm>
          <a:prstGeom prst="downArrow">
            <a:avLst/>
          </a:prstGeom>
          <a:solidFill>
            <a:srgbClr val="8A93A0"/>
          </a:solidFill>
          <a:ln/>
        </p:spPr>
      </p:sp>
      <p:sp>
        <p:nvSpPr>
          <p:cNvPr id="13" name="Shape 11"/>
          <p:cNvSpPr/>
          <p:nvPr/>
        </p:nvSpPr>
        <p:spPr>
          <a:xfrm>
            <a:off x="502920" y="3346704"/>
            <a:ext cx="5349240" cy="530352"/>
          </a:xfrm>
          <a:prstGeom prst="roundRect">
            <a:avLst>
              <a:gd name="adj" fmla="val 12069"/>
            </a:avLst>
          </a:prstGeom>
          <a:solidFill>
            <a:srgbClr val="2E86C1"/>
          </a:solidFill>
          <a:ln/>
        </p:spPr>
      </p:sp>
      <p:sp>
        <p:nvSpPr>
          <p:cNvPr id="14" name="Text 12"/>
          <p:cNvSpPr/>
          <p:nvPr/>
        </p:nvSpPr>
        <p:spPr>
          <a:xfrm>
            <a:off x="576072" y="3346704"/>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Future Accessibility Index (AI)</a:t>
            </a:r>
            <a:endParaRPr lang="en-US" sz="1200" dirty="0"/>
          </a:p>
        </p:txBody>
      </p:sp>
      <p:sp>
        <p:nvSpPr>
          <p:cNvPr id="15" name="Shape 13"/>
          <p:cNvSpPr/>
          <p:nvPr/>
        </p:nvSpPr>
        <p:spPr>
          <a:xfrm>
            <a:off x="3118104" y="3877056"/>
            <a:ext cx="118872" cy="136703"/>
          </a:xfrm>
          <a:prstGeom prst="downArrow">
            <a:avLst/>
          </a:prstGeom>
          <a:solidFill>
            <a:srgbClr val="8A93A0"/>
          </a:solidFill>
          <a:ln/>
        </p:spPr>
      </p:sp>
      <p:sp>
        <p:nvSpPr>
          <p:cNvPr id="16" name="Shape 14"/>
          <p:cNvSpPr/>
          <p:nvPr/>
        </p:nvSpPr>
        <p:spPr>
          <a:xfrm>
            <a:off x="502920" y="4005072"/>
            <a:ext cx="5349240" cy="530352"/>
          </a:xfrm>
          <a:prstGeom prst="roundRect">
            <a:avLst>
              <a:gd name="adj" fmla="val 12069"/>
            </a:avLst>
          </a:prstGeom>
          <a:solidFill>
            <a:srgbClr val="FFFFFF"/>
          </a:solidFill>
          <a:ln w="12700">
            <a:solidFill>
              <a:srgbClr val="C9D6E4"/>
            </a:solidFill>
            <a:prstDash val="solid"/>
          </a:ln>
        </p:spPr>
      </p:sp>
      <p:sp>
        <p:nvSpPr>
          <p:cNvPr id="17" name="Text 15"/>
          <p:cNvSpPr/>
          <p:nvPr/>
        </p:nvSpPr>
        <p:spPr>
          <a:xfrm>
            <a:off x="576072" y="4005072"/>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1B2A4A"/>
                </a:solidFill>
                <a:latin typeface="Calibri" pitchFamily="34" charset="0"/>
                <a:ea typeface="Calibri" pitchFamily="34" charset="-122"/>
                <a:cs typeface="Calibri" pitchFamily="34" charset="-120"/>
              </a:rPr>
              <a:t>Current Traveller Data</a:t>
            </a:r>
            <a:endParaRPr lang="en-US" sz="1200" dirty="0"/>
          </a:p>
        </p:txBody>
      </p:sp>
      <p:sp>
        <p:nvSpPr>
          <p:cNvPr id="18" name="Shape 16"/>
          <p:cNvSpPr/>
          <p:nvPr/>
        </p:nvSpPr>
        <p:spPr>
          <a:xfrm>
            <a:off x="5852160" y="4270248"/>
            <a:ext cx="502920" cy="0"/>
          </a:xfrm>
          <a:prstGeom prst="line">
            <a:avLst/>
          </a:prstGeom>
          <a:noFill/>
          <a:ln w="19050">
            <a:solidFill>
              <a:srgbClr val="8A93A0"/>
            </a:solidFill>
            <a:prstDash val="solid"/>
            <a:tailEnd type="triangle"/>
          </a:ln>
        </p:spPr>
      </p:sp>
      <p:sp>
        <p:nvSpPr>
          <p:cNvPr id="19" name="Shape 17"/>
          <p:cNvSpPr/>
          <p:nvPr/>
        </p:nvSpPr>
        <p:spPr>
          <a:xfrm>
            <a:off x="6355080" y="1371600"/>
            <a:ext cx="5349240" cy="530352"/>
          </a:xfrm>
          <a:prstGeom prst="roundRect">
            <a:avLst>
              <a:gd name="adj" fmla="val 12069"/>
            </a:avLst>
          </a:prstGeom>
          <a:solidFill>
            <a:srgbClr val="C9932F"/>
          </a:solidFill>
          <a:ln/>
        </p:spPr>
      </p:sp>
      <p:sp>
        <p:nvSpPr>
          <p:cNvPr id="20" name="Text 18"/>
          <p:cNvSpPr/>
          <p:nvPr/>
        </p:nvSpPr>
        <p:spPr>
          <a:xfrm>
            <a:off x="6428232" y="1371600"/>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Prediction Models</a:t>
            </a:r>
            <a:endParaRPr lang="en-US" sz="1200" dirty="0"/>
          </a:p>
        </p:txBody>
      </p:sp>
      <p:sp>
        <p:nvSpPr>
          <p:cNvPr id="21" name="Shape 19"/>
          <p:cNvSpPr/>
          <p:nvPr/>
        </p:nvSpPr>
        <p:spPr>
          <a:xfrm>
            <a:off x="8970264" y="1901952"/>
            <a:ext cx="118872" cy="136703"/>
          </a:xfrm>
          <a:prstGeom prst="downArrow">
            <a:avLst/>
          </a:prstGeom>
          <a:solidFill>
            <a:srgbClr val="8A93A0"/>
          </a:solidFill>
          <a:ln/>
        </p:spPr>
      </p:sp>
      <p:sp>
        <p:nvSpPr>
          <p:cNvPr id="22" name="Shape 20"/>
          <p:cNvSpPr/>
          <p:nvPr/>
        </p:nvSpPr>
        <p:spPr>
          <a:xfrm>
            <a:off x="6355080" y="2029968"/>
            <a:ext cx="5349240" cy="530352"/>
          </a:xfrm>
          <a:prstGeom prst="roundRect">
            <a:avLst>
              <a:gd name="adj" fmla="val 12069"/>
            </a:avLst>
          </a:prstGeom>
          <a:solidFill>
            <a:srgbClr val="FFFFFF"/>
          </a:solidFill>
          <a:ln w="12700">
            <a:solidFill>
              <a:srgbClr val="C9D6E4"/>
            </a:solidFill>
            <a:prstDash val="solid"/>
          </a:ln>
        </p:spPr>
      </p:sp>
      <p:sp>
        <p:nvSpPr>
          <p:cNvPr id="23" name="Text 21"/>
          <p:cNvSpPr/>
          <p:nvPr/>
        </p:nvSpPr>
        <p:spPr>
          <a:xfrm>
            <a:off x="6428232" y="2029968"/>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1B2A4A"/>
                </a:solidFill>
                <a:latin typeface="Calibri" pitchFamily="34" charset="0"/>
                <a:ea typeface="Calibri" pitchFamily="34" charset="-122"/>
                <a:cs typeface="Calibri" pitchFamily="34" charset="-120"/>
              </a:rPr>
              <a:t>Predicted Behaviour</a:t>
            </a:r>
            <a:endParaRPr lang="en-US" sz="1200" dirty="0"/>
          </a:p>
        </p:txBody>
      </p:sp>
      <p:sp>
        <p:nvSpPr>
          <p:cNvPr id="24" name="Shape 22"/>
          <p:cNvSpPr/>
          <p:nvPr/>
        </p:nvSpPr>
        <p:spPr>
          <a:xfrm>
            <a:off x="8970264" y="2560320"/>
            <a:ext cx="118872" cy="136703"/>
          </a:xfrm>
          <a:prstGeom prst="downArrow">
            <a:avLst/>
          </a:prstGeom>
          <a:solidFill>
            <a:srgbClr val="8A93A0"/>
          </a:solidFill>
          <a:ln/>
        </p:spPr>
      </p:sp>
      <p:sp>
        <p:nvSpPr>
          <p:cNvPr id="25" name="Shape 23"/>
          <p:cNvSpPr/>
          <p:nvPr/>
        </p:nvSpPr>
        <p:spPr>
          <a:xfrm>
            <a:off x="6355080" y="2688336"/>
            <a:ext cx="5349240" cy="530352"/>
          </a:xfrm>
          <a:prstGeom prst="roundRect">
            <a:avLst>
              <a:gd name="adj" fmla="val 12069"/>
            </a:avLst>
          </a:prstGeom>
          <a:solidFill>
            <a:srgbClr val="5FA8D3"/>
          </a:solidFill>
          <a:ln/>
        </p:spPr>
      </p:sp>
      <p:sp>
        <p:nvSpPr>
          <p:cNvPr id="26" name="Text 24"/>
          <p:cNvSpPr/>
          <p:nvPr/>
        </p:nvSpPr>
        <p:spPr>
          <a:xfrm>
            <a:off x="6428232" y="2688336"/>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Predicted BA</a:t>
            </a:r>
            <a:endParaRPr lang="en-US" sz="1200" dirty="0"/>
          </a:p>
        </p:txBody>
      </p:sp>
      <p:sp>
        <p:nvSpPr>
          <p:cNvPr id="27" name="Shape 25"/>
          <p:cNvSpPr/>
          <p:nvPr/>
        </p:nvSpPr>
        <p:spPr>
          <a:xfrm>
            <a:off x="8970264" y="3218688"/>
            <a:ext cx="118872" cy="136703"/>
          </a:xfrm>
          <a:prstGeom prst="downArrow">
            <a:avLst/>
          </a:prstGeom>
          <a:solidFill>
            <a:srgbClr val="8A93A0"/>
          </a:solidFill>
          <a:ln/>
        </p:spPr>
      </p:sp>
      <p:sp>
        <p:nvSpPr>
          <p:cNvPr id="28" name="Shape 26"/>
          <p:cNvSpPr/>
          <p:nvPr/>
        </p:nvSpPr>
        <p:spPr>
          <a:xfrm>
            <a:off x="6355080" y="3346704"/>
            <a:ext cx="5349240" cy="530352"/>
          </a:xfrm>
          <a:prstGeom prst="roundRect">
            <a:avLst>
              <a:gd name="adj" fmla="val 12069"/>
            </a:avLst>
          </a:prstGeom>
          <a:solidFill>
            <a:srgbClr val="12253B"/>
          </a:solidFill>
          <a:ln/>
        </p:spPr>
      </p:sp>
      <p:sp>
        <p:nvSpPr>
          <p:cNvPr id="29" name="Text 27"/>
          <p:cNvSpPr/>
          <p:nvPr/>
        </p:nvSpPr>
        <p:spPr>
          <a:xfrm>
            <a:off x="6428232" y="3346704"/>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Future TRI</a:t>
            </a:r>
            <a:endParaRPr lang="en-US" sz="1200" dirty="0"/>
          </a:p>
        </p:txBody>
      </p:sp>
      <p:sp>
        <p:nvSpPr>
          <p:cNvPr id="30" name="Shape 28"/>
          <p:cNvSpPr/>
          <p:nvPr/>
        </p:nvSpPr>
        <p:spPr>
          <a:xfrm>
            <a:off x="8970264" y="3877056"/>
            <a:ext cx="118872" cy="136703"/>
          </a:xfrm>
          <a:prstGeom prst="downArrow">
            <a:avLst/>
          </a:prstGeom>
          <a:solidFill>
            <a:srgbClr val="8A93A0"/>
          </a:solidFill>
          <a:ln/>
        </p:spPr>
      </p:sp>
      <p:sp>
        <p:nvSpPr>
          <p:cNvPr id="31" name="Shape 29"/>
          <p:cNvSpPr/>
          <p:nvPr/>
        </p:nvSpPr>
        <p:spPr>
          <a:xfrm>
            <a:off x="6355080" y="4005072"/>
            <a:ext cx="5349240" cy="530352"/>
          </a:xfrm>
          <a:prstGeom prst="roundRect">
            <a:avLst>
              <a:gd name="adj" fmla="val 12069"/>
            </a:avLst>
          </a:prstGeom>
          <a:solidFill>
            <a:srgbClr val="C9932F"/>
          </a:solidFill>
          <a:ln/>
          <a:effectLst>
            <a:outerShdw blurRad="76200" dist="25400" dir="5400000" algn="bl" rotWithShape="0">
              <a:srgbClr val="9AA7B5">
                <a:alpha val="28000"/>
              </a:srgbClr>
            </a:outerShdw>
          </a:effectLst>
        </p:spPr>
      </p:sp>
      <p:sp>
        <p:nvSpPr>
          <p:cNvPr id="32" name="Text 30"/>
          <p:cNvSpPr/>
          <p:nvPr/>
        </p:nvSpPr>
        <p:spPr>
          <a:xfrm>
            <a:off x="6428232" y="4005072"/>
            <a:ext cx="5202936" cy="530352"/>
          </a:xfrm>
          <a:prstGeom prst="rect">
            <a:avLst/>
          </a:prstGeom>
          <a:noFill/>
          <a:ln/>
        </p:spPr>
        <p:txBody>
          <a:bodyPr wrap="square" lIns="0" tIns="0" rIns="0" bIns="0" rtlCol="0" anchor="ctr"/>
          <a:lstStyle/>
          <a:p>
            <a:pPr marL="0" indent="0" algn="ctr">
              <a:lnSpc>
                <a:spcPct val="100000"/>
              </a:lnSpc>
              <a:buNone/>
            </a:pPr>
            <a:r>
              <a:rPr lang="en-US" sz="1200" b="1" dirty="0">
                <a:solidFill>
                  <a:srgbClr val="FFFFFF"/>
                </a:solidFill>
                <a:latin typeface="Calibri" pitchFamily="34" charset="0"/>
                <a:ea typeface="Calibri" pitchFamily="34" charset="-122"/>
                <a:cs typeface="Calibri" pitchFamily="34" charset="-120"/>
              </a:rPr>
              <a:t>Scenario Comparison</a:t>
            </a:r>
            <a:endParaRPr lang="en-US" sz="1200" dirty="0"/>
          </a:p>
        </p:txBody>
      </p:sp>
      <p:sp>
        <p:nvSpPr>
          <p:cNvPr id="33" name="Text 31"/>
          <p:cNvSpPr/>
          <p:nvPr/>
        </p:nvSpPr>
        <p:spPr>
          <a:xfrm>
            <a:off x="502920" y="6473952"/>
            <a:ext cx="7315200" cy="274320"/>
          </a:xfrm>
          <a:prstGeom prst="rect">
            <a:avLst/>
          </a:prstGeom>
          <a:noFill/>
          <a:ln/>
        </p:spPr>
        <p:txBody>
          <a:bodyPr wrap="square" lIns="0" tIns="0" rIns="0" bIns="0" rtlCol="0" anchor="ctr"/>
          <a:lstStyle/>
          <a:p>
            <a:pPr marL="0" indent="0">
              <a:buNone/>
            </a:pPr>
            <a:r>
              <a:rPr lang="en-US" sz="900" i="1" dirty="0">
                <a:solidFill>
                  <a:srgbClr val="8A93A0"/>
                </a:solidFill>
                <a:latin typeface="Calibri" pitchFamily="34" charset="0"/>
                <a:ea typeface="Calibri" pitchFamily="34" charset="-122"/>
                <a:cs typeface="Calibri" pitchFamily="34" charset="-120"/>
              </a:rPr>
              <a:t>Prediction models are the same four trained models introduced in the machine learning framework.</a:t>
            </a:r>
            <a:endParaRPr lang="en-US" sz="900" dirty="0"/>
          </a:p>
        </p:txBody>
      </p:sp>
      <p:sp>
        <p:nvSpPr>
          <p:cNvPr id="34"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SCIENTIFIC AND PRACTICAL VALUE</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Research Contributions</a:t>
            </a:r>
            <a:endParaRPr lang="en-US" sz="2800" dirty="0"/>
          </a:p>
        </p:txBody>
      </p:sp>
      <p:sp>
        <p:nvSpPr>
          <p:cNvPr id="4" name="Shape 2"/>
          <p:cNvSpPr/>
          <p:nvPr/>
        </p:nvSpPr>
        <p:spPr>
          <a:xfrm>
            <a:off x="502920" y="1417320"/>
            <a:ext cx="2628900" cy="2331720"/>
          </a:xfrm>
          <a:prstGeom prst="roundRect">
            <a:avLst>
              <a:gd name="adj" fmla="val 3529"/>
            </a:avLst>
          </a:prstGeom>
          <a:solidFill>
            <a:srgbClr val="1F4E8C"/>
          </a:solidFill>
          <a:ln/>
          <a:effectLst>
            <a:outerShdw blurRad="76200" dist="25400" dir="5400000" algn="bl" rotWithShape="0">
              <a:srgbClr val="9AA7B5">
                <a:alpha val="28000"/>
              </a:srgbClr>
            </a:outerShdw>
          </a:effectLst>
        </p:spPr>
      </p:sp>
      <p:sp>
        <p:nvSpPr>
          <p:cNvPr id="5" name="Shape 3"/>
          <p:cNvSpPr/>
          <p:nvPr/>
        </p:nvSpPr>
        <p:spPr>
          <a:xfrm>
            <a:off x="1506474" y="1673352"/>
            <a:ext cx="621792" cy="621792"/>
          </a:xfrm>
          <a:prstGeom prst="ellipse">
            <a:avLst/>
          </a:prstGeom>
          <a:solidFill>
            <a:srgbClr val="FFFFFF">
              <a:alpha val="18000"/>
            </a:srgbClr>
          </a:solidFill>
          <a:ln/>
        </p:spPr>
      </p:sp>
      <p:pic>
        <p:nvPicPr>
          <p:cNvPr id="6" name="Image 0" descr="/home/claude/tr_pptx/icons/gis_white.png"/>
          <p:cNvPicPr>
            <a:picLocks noChangeAspect="1"/>
          </p:cNvPicPr>
          <p:nvPr/>
        </p:nvPicPr>
        <p:blipFill>
          <a:blip r:embed="rId3"/>
          <a:stretch>
            <a:fillRect/>
          </a:stretch>
        </p:blipFill>
        <p:spPr>
          <a:xfrm>
            <a:off x="1643268" y="1810146"/>
            <a:ext cx="348204" cy="348204"/>
          </a:xfrm>
          <a:prstGeom prst="rect">
            <a:avLst/>
          </a:prstGeom>
        </p:spPr>
      </p:pic>
      <p:sp>
        <p:nvSpPr>
          <p:cNvPr id="7" name="Text 4"/>
          <p:cNvSpPr/>
          <p:nvPr/>
        </p:nvSpPr>
        <p:spPr>
          <a:xfrm>
            <a:off x="667512" y="2468880"/>
            <a:ext cx="2299716" cy="685800"/>
          </a:xfrm>
          <a:prstGeom prst="rect">
            <a:avLst/>
          </a:prstGeom>
          <a:noFill/>
          <a:ln/>
        </p:spPr>
        <p:txBody>
          <a:bodyPr wrap="square" lIns="0" tIns="0" rIns="0" bIns="0" rtlCol="0" anchor="t"/>
          <a:lstStyle/>
          <a:p>
            <a:pPr marL="0" indent="0" algn="ctr">
              <a:lnSpc>
                <a:spcPct val="105000"/>
              </a:lnSpc>
              <a:buNone/>
            </a:pPr>
            <a:r>
              <a:rPr lang="en-US" sz="1300" b="1" dirty="0">
                <a:solidFill>
                  <a:srgbClr val="FFFFFF"/>
                </a:solidFill>
                <a:latin typeface="Cambria" pitchFamily="34" charset="0"/>
                <a:ea typeface="Cambria" pitchFamily="34" charset="-122"/>
                <a:cs typeface="Cambria" pitchFamily="34" charset="-120"/>
              </a:rPr>
              <a:t>Integrated GIS + ML Framework</a:t>
            </a:r>
            <a:endParaRPr lang="en-US" sz="1300" dirty="0"/>
          </a:p>
        </p:txBody>
      </p:sp>
      <p:sp>
        <p:nvSpPr>
          <p:cNvPr id="8" name="Text 5"/>
          <p:cNvSpPr/>
          <p:nvPr/>
        </p:nvSpPr>
        <p:spPr>
          <a:xfrm>
            <a:off x="685800" y="3108960"/>
            <a:ext cx="2263140" cy="594360"/>
          </a:xfrm>
          <a:prstGeom prst="rect">
            <a:avLst/>
          </a:prstGeom>
          <a:noFill/>
          <a:ln/>
        </p:spPr>
        <p:txBody>
          <a:bodyPr wrap="square" lIns="0" tIns="0" rIns="0" bIns="0" rtlCol="0" anchor="t"/>
          <a:lstStyle/>
          <a:p>
            <a:pPr marL="0" indent="0" algn="ctr">
              <a:lnSpc>
                <a:spcPct val="110000"/>
              </a:lnSpc>
              <a:buNone/>
            </a:pPr>
            <a:r>
              <a:rPr lang="en-US" sz="950" dirty="0">
                <a:solidFill>
                  <a:srgbClr val="FFFFFF"/>
                </a:solidFill>
                <a:latin typeface="Calibri" pitchFamily="34" charset="0"/>
                <a:ea typeface="Calibri" pitchFamily="34" charset="-122"/>
                <a:cs typeface="Calibri" pitchFamily="34" charset="-120"/>
              </a:rPr>
              <a:t>Unifies spatial infrastructure analysis with predictive modelling</a:t>
            </a:r>
            <a:endParaRPr lang="en-US" sz="950" dirty="0"/>
          </a:p>
        </p:txBody>
      </p:sp>
      <p:sp>
        <p:nvSpPr>
          <p:cNvPr id="9" name="Shape 6"/>
          <p:cNvSpPr/>
          <p:nvPr/>
        </p:nvSpPr>
        <p:spPr>
          <a:xfrm>
            <a:off x="3360420" y="1417320"/>
            <a:ext cx="2628900" cy="2331720"/>
          </a:xfrm>
          <a:prstGeom prst="roundRect">
            <a:avLst>
              <a:gd name="adj" fmla="val 3529"/>
            </a:avLst>
          </a:prstGeom>
          <a:solidFill>
            <a:srgbClr val="2E86C1"/>
          </a:solidFill>
          <a:ln/>
          <a:effectLst>
            <a:outerShdw blurRad="76200" dist="25400" dir="5400000" algn="bl" rotWithShape="0">
              <a:srgbClr val="9AA7B5">
                <a:alpha val="28000"/>
              </a:srgbClr>
            </a:outerShdw>
          </a:effectLst>
        </p:spPr>
      </p:sp>
      <p:sp>
        <p:nvSpPr>
          <p:cNvPr id="10" name="Shape 7"/>
          <p:cNvSpPr/>
          <p:nvPr/>
        </p:nvSpPr>
        <p:spPr>
          <a:xfrm>
            <a:off x="4363974" y="1673352"/>
            <a:ext cx="621792" cy="621792"/>
          </a:xfrm>
          <a:prstGeom prst="ellipse">
            <a:avLst/>
          </a:prstGeom>
          <a:solidFill>
            <a:srgbClr val="FFFFFF">
              <a:alpha val="18000"/>
            </a:srgbClr>
          </a:solidFill>
          <a:ln/>
        </p:spPr>
      </p:sp>
      <p:pic>
        <p:nvPicPr>
          <p:cNvPr id="11" name="Image 1" descr="/home/claude/tr_pptx/icons/traveller_white.png"/>
          <p:cNvPicPr>
            <a:picLocks noChangeAspect="1"/>
          </p:cNvPicPr>
          <p:nvPr/>
        </p:nvPicPr>
        <p:blipFill>
          <a:blip r:embed="rId4"/>
          <a:stretch>
            <a:fillRect/>
          </a:stretch>
        </p:blipFill>
        <p:spPr>
          <a:xfrm>
            <a:off x="4500768" y="1810146"/>
            <a:ext cx="348204" cy="348204"/>
          </a:xfrm>
          <a:prstGeom prst="rect">
            <a:avLst/>
          </a:prstGeom>
        </p:spPr>
      </p:pic>
      <p:sp>
        <p:nvSpPr>
          <p:cNvPr id="12" name="Text 8"/>
          <p:cNvSpPr/>
          <p:nvPr/>
        </p:nvSpPr>
        <p:spPr>
          <a:xfrm>
            <a:off x="3525012" y="2468880"/>
            <a:ext cx="2299716" cy="685800"/>
          </a:xfrm>
          <a:prstGeom prst="rect">
            <a:avLst/>
          </a:prstGeom>
          <a:noFill/>
          <a:ln/>
        </p:spPr>
        <p:txBody>
          <a:bodyPr wrap="square" lIns="0" tIns="0" rIns="0" bIns="0" rtlCol="0" anchor="t"/>
          <a:lstStyle/>
          <a:p>
            <a:pPr marL="0" indent="0" algn="ctr">
              <a:lnSpc>
                <a:spcPct val="105000"/>
              </a:lnSpc>
              <a:buNone/>
            </a:pPr>
            <a:r>
              <a:rPr lang="en-US" sz="1300" b="1" dirty="0">
                <a:solidFill>
                  <a:srgbClr val="FFFFFF"/>
                </a:solidFill>
                <a:latin typeface="Cambria" pitchFamily="34" charset="0"/>
                <a:ea typeface="Cambria" pitchFamily="34" charset="-122"/>
                <a:cs typeface="Cambria" pitchFamily="34" charset="-120"/>
              </a:rPr>
              <a:t>Novel Behavioural Adaptation Indicator</a:t>
            </a:r>
            <a:endParaRPr lang="en-US" sz="1300" dirty="0"/>
          </a:p>
        </p:txBody>
      </p:sp>
      <p:sp>
        <p:nvSpPr>
          <p:cNvPr id="13" name="Text 9"/>
          <p:cNvSpPr/>
          <p:nvPr/>
        </p:nvSpPr>
        <p:spPr>
          <a:xfrm>
            <a:off x="3543300" y="3108960"/>
            <a:ext cx="2263140" cy="594360"/>
          </a:xfrm>
          <a:prstGeom prst="rect">
            <a:avLst/>
          </a:prstGeom>
          <a:noFill/>
          <a:ln/>
        </p:spPr>
        <p:txBody>
          <a:bodyPr wrap="square" lIns="0" tIns="0" rIns="0" bIns="0" rtlCol="0" anchor="t"/>
          <a:lstStyle/>
          <a:p>
            <a:pPr marL="0" indent="0" algn="ctr">
              <a:lnSpc>
                <a:spcPct val="110000"/>
              </a:lnSpc>
              <a:buNone/>
            </a:pPr>
            <a:r>
              <a:rPr lang="en-US" sz="950" dirty="0">
                <a:solidFill>
                  <a:srgbClr val="FFFFFF"/>
                </a:solidFill>
                <a:latin typeface="Calibri" pitchFamily="34" charset="0"/>
                <a:ea typeface="Calibri" pitchFamily="34" charset="-122"/>
                <a:cs typeface="Calibri" pitchFamily="34" charset="-120"/>
              </a:rPr>
              <a:t>Captures traveller response as a resilience component</a:t>
            </a:r>
            <a:endParaRPr lang="en-US" sz="950" dirty="0"/>
          </a:p>
        </p:txBody>
      </p:sp>
      <p:sp>
        <p:nvSpPr>
          <p:cNvPr id="14" name="Shape 10"/>
          <p:cNvSpPr/>
          <p:nvPr/>
        </p:nvSpPr>
        <p:spPr>
          <a:xfrm>
            <a:off x="6217920" y="1417320"/>
            <a:ext cx="2628900" cy="2331720"/>
          </a:xfrm>
          <a:prstGeom prst="roundRect">
            <a:avLst>
              <a:gd name="adj" fmla="val 3529"/>
            </a:avLst>
          </a:prstGeom>
          <a:solidFill>
            <a:srgbClr val="5FA8D3"/>
          </a:solidFill>
          <a:ln/>
          <a:effectLst>
            <a:outerShdw blurRad="76200" dist="25400" dir="5400000" algn="bl" rotWithShape="0">
              <a:srgbClr val="9AA7B5">
                <a:alpha val="28000"/>
              </a:srgbClr>
            </a:outerShdw>
          </a:effectLst>
        </p:spPr>
      </p:sp>
      <p:sp>
        <p:nvSpPr>
          <p:cNvPr id="15" name="Shape 11"/>
          <p:cNvSpPr/>
          <p:nvPr/>
        </p:nvSpPr>
        <p:spPr>
          <a:xfrm>
            <a:off x="7221474" y="1673352"/>
            <a:ext cx="621792" cy="621792"/>
          </a:xfrm>
          <a:prstGeom prst="ellipse">
            <a:avLst/>
          </a:prstGeom>
          <a:solidFill>
            <a:srgbClr val="FFFFFF">
              <a:alpha val="18000"/>
            </a:srgbClr>
          </a:solidFill>
          <a:ln/>
        </p:spPr>
      </p:sp>
      <p:pic>
        <p:nvPicPr>
          <p:cNvPr id="16" name="Image 2" descr="/home/claude/tr_pptx/icons/chart_white.png"/>
          <p:cNvPicPr>
            <a:picLocks noChangeAspect="1"/>
          </p:cNvPicPr>
          <p:nvPr/>
        </p:nvPicPr>
        <p:blipFill>
          <a:blip r:embed="rId5"/>
          <a:stretch>
            <a:fillRect/>
          </a:stretch>
        </p:blipFill>
        <p:spPr>
          <a:xfrm>
            <a:off x="7358268" y="1810146"/>
            <a:ext cx="348204" cy="348204"/>
          </a:xfrm>
          <a:prstGeom prst="rect">
            <a:avLst/>
          </a:prstGeom>
        </p:spPr>
      </p:pic>
      <p:sp>
        <p:nvSpPr>
          <p:cNvPr id="17" name="Text 12"/>
          <p:cNvSpPr/>
          <p:nvPr/>
        </p:nvSpPr>
        <p:spPr>
          <a:xfrm>
            <a:off x="6382512" y="2468880"/>
            <a:ext cx="2299716" cy="685800"/>
          </a:xfrm>
          <a:prstGeom prst="rect">
            <a:avLst/>
          </a:prstGeom>
          <a:noFill/>
          <a:ln/>
        </p:spPr>
        <p:txBody>
          <a:bodyPr wrap="square" lIns="0" tIns="0" rIns="0" bIns="0" rtlCol="0" anchor="t"/>
          <a:lstStyle/>
          <a:p>
            <a:pPr marL="0" indent="0" algn="ctr">
              <a:lnSpc>
                <a:spcPct val="105000"/>
              </a:lnSpc>
              <a:buNone/>
            </a:pPr>
            <a:r>
              <a:rPr lang="en-US" sz="1300" b="1" dirty="0">
                <a:solidFill>
                  <a:srgbClr val="FFFFFF"/>
                </a:solidFill>
                <a:latin typeface="Cambria" pitchFamily="34" charset="0"/>
                <a:ea typeface="Cambria" pitchFamily="34" charset="-122"/>
                <a:cs typeface="Cambria" pitchFamily="34" charset="-120"/>
              </a:rPr>
              <a:t>Historical + Future Resilience Assessment</a:t>
            </a:r>
            <a:endParaRPr lang="en-US" sz="1300" dirty="0"/>
          </a:p>
        </p:txBody>
      </p:sp>
      <p:sp>
        <p:nvSpPr>
          <p:cNvPr id="18" name="Text 13"/>
          <p:cNvSpPr/>
          <p:nvPr/>
        </p:nvSpPr>
        <p:spPr>
          <a:xfrm>
            <a:off x="6400800" y="3108960"/>
            <a:ext cx="2263140" cy="594360"/>
          </a:xfrm>
          <a:prstGeom prst="rect">
            <a:avLst/>
          </a:prstGeom>
          <a:noFill/>
          <a:ln/>
        </p:spPr>
        <p:txBody>
          <a:bodyPr wrap="square" lIns="0" tIns="0" rIns="0" bIns="0" rtlCol="0" anchor="t"/>
          <a:lstStyle/>
          <a:p>
            <a:pPr marL="0" indent="0" algn="ctr">
              <a:lnSpc>
                <a:spcPct val="110000"/>
              </a:lnSpc>
              <a:buNone/>
            </a:pPr>
            <a:r>
              <a:rPr lang="en-US" sz="950" dirty="0">
                <a:solidFill>
                  <a:srgbClr val="FFFFFF"/>
                </a:solidFill>
                <a:latin typeface="Calibri" pitchFamily="34" charset="0"/>
                <a:ea typeface="Calibri" pitchFamily="34" charset="-122"/>
                <a:cs typeface="Calibri" pitchFamily="34" charset="-120"/>
              </a:rPr>
              <a:t>Links observed data with predicted future conditions</a:t>
            </a:r>
            <a:endParaRPr lang="en-US" sz="950" dirty="0"/>
          </a:p>
        </p:txBody>
      </p:sp>
      <p:sp>
        <p:nvSpPr>
          <p:cNvPr id="19" name="Shape 14"/>
          <p:cNvSpPr/>
          <p:nvPr/>
        </p:nvSpPr>
        <p:spPr>
          <a:xfrm>
            <a:off x="9075420" y="1417320"/>
            <a:ext cx="2628900" cy="2331720"/>
          </a:xfrm>
          <a:prstGeom prst="roundRect">
            <a:avLst>
              <a:gd name="adj" fmla="val 3529"/>
            </a:avLst>
          </a:prstGeom>
          <a:solidFill>
            <a:srgbClr val="1B2A4A"/>
          </a:solidFill>
          <a:ln/>
          <a:effectLst>
            <a:outerShdw blurRad="76200" dist="25400" dir="5400000" algn="bl" rotWithShape="0">
              <a:srgbClr val="9AA7B5">
                <a:alpha val="28000"/>
              </a:srgbClr>
            </a:outerShdw>
          </a:effectLst>
        </p:spPr>
      </p:sp>
      <p:sp>
        <p:nvSpPr>
          <p:cNvPr id="20" name="Shape 15"/>
          <p:cNvSpPr/>
          <p:nvPr/>
        </p:nvSpPr>
        <p:spPr>
          <a:xfrm>
            <a:off x="10078974" y="1673352"/>
            <a:ext cx="621792" cy="621792"/>
          </a:xfrm>
          <a:prstGeom prst="ellipse">
            <a:avLst/>
          </a:prstGeom>
          <a:solidFill>
            <a:srgbClr val="FFFFFF">
              <a:alpha val="18000"/>
            </a:srgbClr>
          </a:solidFill>
          <a:ln/>
        </p:spPr>
      </p:sp>
      <p:pic>
        <p:nvPicPr>
          <p:cNvPr id="21" name="Image 3" descr="/home/claude/tr_pptx/icons/decision_white.png"/>
          <p:cNvPicPr>
            <a:picLocks noChangeAspect="1"/>
          </p:cNvPicPr>
          <p:nvPr/>
        </p:nvPicPr>
        <p:blipFill>
          <a:blip r:embed="rId6"/>
          <a:stretch>
            <a:fillRect/>
          </a:stretch>
        </p:blipFill>
        <p:spPr>
          <a:xfrm>
            <a:off x="10215768" y="1810146"/>
            <a:ext cx="348204" cy="348204"/>
          </a:xfrm>
          <a:prstGeom prst="rect">
            <a:avLst/>
          </a:prstGeom>
        </p:spPr>
      </p:pic>
      <p:sp>
        <p:nvSpPr>
          <p:cNvPr id="22" name="Text 16"/>
          <p:cNvSpPr/>
          <p:nvPr/>
        </p:nvSpPr>
        <p:spPr>
          <a:xfrm>
            <a:off x="9240012" y="2468880"/>
            <a:ext cx="2299716" cy="685800"/>
          </a:xfrm>
          <a:prstGeom prst="rect">
            <a:avLst/>
          </a:prstGeom>
          <a:noFill/>
          <a:ln/>
        </p:spPr>
        <p:txBody>
          <a:bodyPr wrap="square" lIns="0" tIns="0" rIns="0" bIns="0" rtlCol="0" anchor="t"/>
          <a:lstStyle/>
          <a:p>
            <a:pPr marL="0" indent="0" algn="ctr">
              <a:lnSpc>
                <a:spcPct val="105000"/>
              </a:lnSpc>
              <a:buNone/>
            </a:pPr>
            <a:r>
              <a:rPr lang="en-US" sz="1300" b="1" dirty="0">
                <a:solidFill>
                  <a:srgbClr val="FFFFFF"/>
                </a:solidFill>
                <a:latin typeface="Cambria" pitchFamily="34" charset="0"/>
                <a:ea typeface="Cambria" pitchFamily="34" charset="-122"/>
                <a:cs typeface="Cambria" pitchFamily="34" charset="-120"/>
              </a:rPr>
              <a:t>Decision Support for Flood-Resilient Transport</a:t>
            </a:r>
            <a:endParaRPr lang="en-US" sz="1300" dirty="0"/>
          </a:p>
        </p:txBody>
      </p:sp>
      <p:sp>
        <p:nvSpPr>
          <p:cNvPr id="23" name="Text 17"/>
          <p:cNvSpPr/>
          <p:nvPr/>
        </p:nvSpPr>
        <p:spPr>
          <a:xfrm>
            <a:off x="9258300" y="3108960"/>
            <a:ext cx="2263140" cy="594360"/>
          </a:xfrm>
          <a:prstGeom prst="rect">
            <a:avLst/>
          </a:prstGeom>
          <a:noFill/>
          <a:ln/>
        </p:spPr>
        <p:txBody>
          <a:bodyPr wrap="square" lIns="0" tIns="0" rIns="0" bIns="0" rtlCol="0" anchor="t"/>
          <a:lstStyle/>
          <a:p>
            <a:pPr marL="0" indent="0" algn="ctr">
              <a:lnSpc>
                <a:spcPct val="110000"/>
              </a:lnSpc>
              <a:buNone/>
            </a:pPr>
            <a:r>
              <a:rPr lang="en-US" sz="950" dirty="0">
                <a:solidFill>
                  <a:srgbClr val="FFFFFF"/>
                </a:solidFill>
                <a:latin typeface="Calibri" pitchFamily="34" charset="0"/>
                <a:ea typeface="Calibri" pitchFamily="34" charset="-122"/>
                <a:cs typeface="Calibri" pitchFamily="34" charset="-120"/>
              </a:rPr>
              <a:t>Translates analysis into planning guidance</a:t>
            </a:r>
            <a:endParaRPr lang="en-US" sz="950" dirty="0"/>
          </a:p>
        </p:txBody>
      </p:sp>
      <p:sp>
        <p:nvSpPr>
          <p:cNvPr id="24" name="Text 18"/>
          <p:cNvSpPr/>
          <p:nvPr/>
        </p:nvSpPr>
        <p:spPr>
          <a:xfrm>
            <a:off x="502920" y="4069080"/>
            <a:ext cx="5486400" cy="292608"/>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Expected Outputs</a:t>
            </a:r>
            <a:endParaRPr lang="en-US" sz="1500" dirty="0"/>
          </a:p>
        </p:txBody>
      </p:sp>
      <p:sp>
        <p:nvSpPr>
          <p:cNvPr id="25" name="Shape 19"/>
          <p:cNvSpPr/>
          <p:nvPr/>
        </p:nvSpPr>
        <p:spPr>
          <a:xfrm>
            <a:off x="502920" y="4453128"/>
            <a:ext cx="2628900" cy="566928"/>
          </a:xfrm>
          <a:prstGeom prst="roundRect">
            <a:avLst>
              <a:gd name="adj" fmla="val 12903"/>
            </a:avLst>
          </a:prstGeom>
          <a:solidFill>
            <a:srgbClr val="EAF1FA"/>
          </a:solidFill>
          <a:ln/>
        </p:spPr>
      </p:sp>
      <p:sp>
        <p:nvSpPr>
          <p:cNvPr id="26" name="Text 20"/>
          <p:cNvSpPr/>
          <p:nvPr/>
        </p:nvSpPr>
        <p:spPr>
          <a:xfrm>
            <a:off x="612648" y="4453128"/>
            <a:ext cx="2409444" cy="566928"/>
          </a:xfrm>
          <a:prstGeom prst="rect">
            <a:avLst/>
          </a:prstGeom>
          <a:noFill/>
          <a:ln/>
        </p:spPr>
        <p:txBody>
          <a:bodyPr wrap="square" lIns="0" tIns="0" rIns="0" bIns="0" rtlCol="0" anchor="ctr"/>
          <a:lstStyle/>
          <a:p>
            <a:pPr marL="0" indent="0" algn="ctr">
              <a:lnSpc>
                <a:spcPct val="105000"/>
              </a:lnSpc>
              <a:buNone/>
            </a:pPr>
            <a:r>
              <a:rPr lang="en-US" sz="1100" b="1" dirty="0">
                <a:solidFill>
                  <a:srgbClr val="1F4E8C"/>
                </a:solidFill>
                <a:latin typeface="Calibri" pitchFamily="34" charset="0"/>
                <a:ea typeface="Calibri" pitchFamily="34" charset="-122"/>
                <a:cs typeface="Calibri" pitchFamily="34" charset="-120"/>
              </a:rPr>
              <a:t>Resilience Maps</a:t>
            </a:r>
            <a:endParaRPr lang="en-US" sz="1100" dirty="0"/>
          </a:p>
        </p:txBody>
      </p:sp>
      <p:sp>
        <p:nvSpPr>
          <p:cNvPr id="27" name="Shape 21"/>
          <p:cNvSpPr/>
          <p:nvPr/>
        </p:nvSpPr>
        <p:spPr>
          <a:xfrm>
            <a:off x="3360420" y="4453128"/>
            <a:ext cx="2628900" cy="566928"/>
          </a:xfrm>
          <a:prstGeom prst="roundRect">
            <a:avLst>
              <a:gd name="adj" fmla="val 12903"/>
            </a:avLst>
          </a:prstGeom>
          <a:solidFill>
            <a:srgbClr val="EAF1FA"/>
          </a:solidFill>
          <a:ln/>
        </p:spPr>
      </p:sp>
      <p:sp>
        <p:nvSpPr>
          <p:cNvPr id="28" name="Text 22"/>
          <p:cNvSpPr/>
          <p:nvPr/>
        </p:nvSpPr>
        <p:spPr>
          <a:xfrm>
            <a:off x="3470148" y="4453128"/>
            <a:ext cx="2409444" cy="566928"/>
          </a:xfrm>
          <a:prstGeom prst="rect">
            <a:avLst/>
          </a:prstGeom>
          <a:noFill/>
          <a:ln/>
        </p:spPr>
        <p:txBody>
          <a:bodyPr wrap="square" lIns="0" tIns="0" rIns="0" bIns="0" rtlCol="0" anchor="ctr"/>
          <a:lstStyle/>
          <a:p>
            <a:pPr marL="0" indent="0" algn="ctr">
              <a:lnSpc>
                <a:spcPct val="105000"/>
              </a:lnSpc>
              <a:buNone/>
            </a:pPr>
            <a:r>
              <a:rPr lang="en-US" sz="1100" b="1" dirty="0">
                <a:solidFill>
                  <a:srgbClr val="1F4E8C"/>
                </a:solidFill>
                <a:latin typeface="Calibri" pitchFamily="34" charset="0"/>
                <a:ea typeface="Calibri" pitchFamily="34" charset="-122"/>
                <a:cs typeface="Calibri" pitchFamily="34" charset="-120"/>
              </a:rPr>
              <a:t>Ward Ranking</a:t>
            </a:r>
            <a:endParaRPr lang="en-US" sz="1100" dirty="0"/>
          </a:p>
        </p:txBody>
      </p:sp>
      <p:sp>
        <p:nvSpPr>
          <p:cNvPr id="29" name="Shape 23"/>
          <p:cNvSpPr/>
          <p:nvPr/>
        </p:nvSpPr>
        <p:spPr>
          <a:xfrm>
            <a:off x="6217920" y="4453128"/>
            <a:ext cx="2628900" cy="566928"/>
          </a:xfrm>
          <a:prstGeom prst="roundRect">
            <a:avLst>
              <a:gd name="adj" fmla="val 12903"/>
            </a:avLst>
          </a:prstGeom>
          <a:solidFill>
            <a:srgbClr val="EAF1FA"/>
          </a:solidFill>
          <a:ln/>
        </p:spPr>
      </p:sp>
      <p:sp>
        <p:nvSpPr>
          <p:cNvPr id="30" name="Text 24"/>
          <p:cNvSpPr/>
          <p:nvPr/>
        </p:nvSpPr>
        <p:spPr>
          <a:xfrm>
            <a:off x="6327648" y="4453128"/>
            <a:ext cx="2409444" cy="566928"/>
          </a:xfrm>
          <a:prstGeom prst="rect">
            <a:avLst/>
          </a:prstGeom>
          <a:noFill/>
          <a:ln/>
        </p:spPr>
        <p:txBody>
          <a:bodyPr wrap="square" lIns="0" tIns="0" rIns="0" bIns="0" rtlCol="0" anchor="ctr"/>
          <a:lstStyle/>
          <a:p>
            <a:pPr marL="0" indent="0" algn="ctr">
              <a:lnSpc>
                <a:spcPct val="105000"/>
              </a:lnSpc>
              <a:buNone/>
            </a:pPr>
            <a:r>
              <a:rPr lang="en-US" sz="1100" b="1" dirty="0">
                <a:solidFill>
                  <a:srgbClr val="1F4E8C"/>
                </a:solidFill>
                <a:latin typeface="Calibri" pitchFamily="34" charset="0"/>
                <a:ea typeface="Calibri" pitchFamily="34" charset="-122"/>
                <a:cs typeface="Calibri" pitchFamily="34" charset="-120"/>
              </a:rPr>
              <a:t>Traveller Behaviour Prediction</a:t>
            </a:r>
            <a:endParaRPr lang="en-US" sz="1100" dirty="0"/>
          </a:p>
        </p:txBody>
      </p:sp>
      <p:sp>
        <p:nvSpPr>
          <p:cNvPr id="31" name="Shape 25"/>
          <p:cNvSpPr/>
          <p:nvPr/>
        </p:nvSpPr>
        <p:spPr>
          <a:xfrm>
            <a:off x="9075420" y="4453128"/>
            <a:ext cx="2628900" cy="566928"/>
          </a:xfrm>
          <a:prstGeom prst="roundRect">
            <a:avLst>
              <a:gd name="adj" fmla="val 12903"/>
            </a:avLst>
          </a:prstGeom>
          <a:solidFill>
            <a:srgbClr val="EAF1FA"/>
          </a:solidFill>
          <a:ln/>
        </p:spPr>
      </p:sp>
      <p:sp>
        <p:nvSpPr>
          <p:cNvPr id="32" name="Text 26"/>
          <p:cNvSpPr/>
          <p:nvPr/>
        </p:nvSpPr>
        <p:spPr>
          <a:xfrm>
            <a:off x="9185148" y="4453128"/>
            <a:ext cx="2409444" cy="566928"/>
          </a:xfrm>
          <a:prstGeom prst="rect">
            <a:avLst/>
          </a:prstGeom>
          <a:noFill/>
          <a:ln/>
        </p:spPr>
        <p:txBody>
          <a:bodyPr wrap="square" lIns="0" tIns="0" rIns="0" bIns="0" rtlCol="0" anchor="ctr"/>
          <a:lstStyle/>
          <a:p>
            <a:pPr marL="0" indent="0" algn="ctr">
              <a:lnSpc>
                <a:spcPct val="105000"/>
              </a:lnSpc>
              <a:buNone/>
            </a:pPr>
            <a:r>
              <a:rPr lang="en-US" sz="1100" b="1" dirty="0">
                <a:solidFill>
                  <a:srgbClr val="1F4E8C"/>
                </a:solidFill>
                <a:latin typeface="Calibri" pitchFamily="34" charset="0"/>
                <a:ea typeface="Calibri" pitchFamily="34" charset="-122"/>
                <a:cs typeface="Calibri" pitchFamily="34" charset="-120"/>
              </a:rPr>
              <a:t>Future Scenario Analysis</a:t>
            </a:r>
            <a:endParaRPr lang="en-US" sz="1100" dirty="0"/>
          </a:p>
        </p:txBody>
      </p:sp>
      <p:sp>
        <p:nvSpPr>
          <p:cNvPr id="33"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lIns="0" tIns="0" rIns="0" bIns="0" rtlCol="0" anchor="ctr"/>
          <a:lstStyle/>
          <a:p>
            <a:pPr marL="0" indent="0">
              <a:buNone/>
            </a:pPr>
            <a:r>
              <a:rPr lang="en-US" sz="1150" b="1" kern="0" spc="150" dirty="0">
                <a:solidFill>
                  <a:srgbClr val="2E86C1"/>
                </a:solidFill>
                <a:latin typeface="Calibri" pitchFamily="34" charset="0"/>
                <a:ea typeface="Calibri" pitchFamily="34" charset="-122"/>
                <a:cs typeface="Calibri" pitchFamily="34" charset="-120"/>
              </a:rPr>
              <a:t>CLOSING SUMMARY</a:t>
            </a:r>
            <a:endParaRPr lang="en-US" sz="1150" dirty="0"/>
          </a:p>
        </p:txBody>
      </p:sp>
      <p:sp>
        <p:nvSpPr>
          <p:cNvPr id="3" name="Text 1"/>
          <p:cNvSpPr/>
          <p:nvPr/>
        </p:nvSpPr>
        <p:spPr>
          <a:xfrm>
            <a:off x="502920" y="548640"/>
            <a:ext cx="10789920" cy="566928"/>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Conclusion</a:t>
            </a:r>
            <a:endParaRPr lang="en-US" sz="2800" dirty="0"/>
          </a:p>
        </p:txBody>
      </p:sp>
      <p:sp>
        <p:nvSpPr>
          <p:cNvPr id="4" name="Shape 2"/>
          <p:cNvSpPr/>
          <p:nvPr/>
        </p:nvSpPr>
        <p:spPr>
          <a:xfrm>
            <a:off x="502920" y="1417320"/>
            <a:ext cx="2064715" cy="685800"/>
          </a:xfrm>
          <a:prstGeom prst="roundRect">
            <a:avLst>
              <a:gd name="adj" fmla="val 10667"/>
            </a:avLst>
          </a:prstGeom>
          <a:solidFill>
            <a:srgbClr val="1F4E8C"/>
          </a:solidFill>
          <a:ln/>
          <a:effectLst>
            <a:outerShdw blurRad="76200" dist="25400" dir="5400000" algn="bl" rotWithShape="0">
              <a:srgbClr val="9AA7B5">
                <a:alpha val="28000"/>
              </a:srgbClr>
            </a:outerShdw>
          </a:effectLst>
        </p:spPr>
      </p:sp>
      <p:sp>
        <p:nvSpPr>
          <p:cNvPr id="5" name="Text 3"/>
          <p:cNvSpPr/>
          <p:nvPr/>
        </p:nvSpPr>
        <p:spPr>
          <a:xfrm>
            <a:off x="576072" y="1417320"/>
            <a:ext cx="1918411" cy="68580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Historical Assessment</a:t>
            </a:r>
            <a:endParaRPr lang="en-US" sz="1100" dirty="0"/>
          </a:p>
        </p:txBody>
      </p:sp>
      <p:sp>
        <p:nvSpPr>
          <p:cNvPr id="6" name="Shape 4"/>
          <p:cNvSpPr/>
          <p:nvPr/>
        </p:nvSpPr>
        <p:spPr>
          <a:xfrm>
            <a:off x="2576779" y="1691640"/>
            <a:ext cx="157734" cy="137160"/>
          </a:xfrm>
          <a:prstGeom prst="rightArrow">
            <a:avLst/>
          </a:prstGeom>
          <a:solidFill>
            <a:srgbClr val="8A93A0"/>
          </a:solidFill>
          <a:ln/>
        </p:spPr>
      </p:sp>
      <p:sp>
        <p:nvSpPr>
          <p:cNvPr id="7" name="Shape 5"/>
          <p:cNvSpPr/>
          <p:nvPr/>
        </p:nvSpPr>
        <p:spPr>
          <a:xfrm>
            <a:off x="2787091" y="1417320"/>
            <a:ext cx="2064715" cy="685800"/>
          </a:xfrm>
          <a:prstGeom prst="roundRect">
            <a:avLst>
              <a:gd name="adj" fmla="val 10667"/>
            </a:avLst>
          </a:prstGeom>
          <a:solidFill>
            <a:srgbClr val="C9932F"/>
          </a:solidFill>
          <a:ln/>
          <a:effectLst>
            <a:outerShdw blurRad="76200" dist="25400" dir="5400000" algn="bl" rotWithShape="0">
              <a:srgbClr val="9AA7B5">
                <a:alpha val="28000"/>
              </a:srgbClr>
            </a:outerShdw>
          </a:effectLst>
        </p:spPr>
      </p:sp>
      <p:sp>
        <p:nvSpPr>
          <p:cNvPr id="8" name="Text 6"/>
          <p:cNvSpPr/>
          <p:nvPr/>
        </p:nvSpPr>
        <p:spPr>
          <a:xfrm>
            <a:off x="2860243" y="1417320"/>
            <a:ext cx="1918411" cy="68580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9" name="Shape 7"/>
          <p:cNvSpPr/>
          <p:nvPr/>
        </p:nvSpPr>
        <p:spPr>
          <a:xfrm>
            <a:off x="4860950" y="1691640"/>
            <a:ext cx="157734" cy="137160"/>
          </a:xfrm>
          <a:prstGeom prst="rightArrow">
            <a:avLst/>
          </a:prstGeom>
          <a:solidFill>
            <a:srgbClr val="8A93A0"/>
          </a:solidFill>
          <a:ln/>
        </p:spPr>
      </p:sp>
      <p:sp>
        <p:nvSpPr>
          <p:cNvPr id="10" name="Shape 8"/>
          <p:cNvSpPr/>
          <p:nvPr/>
        </p:nvSpPr>
        <p:spPr>
          <a:xfrm>
            <a:off x="5071262" y="1417320"/>
            <a:ext cx="2064715" cy="685800"/>
          </a:xfrm>
          <a:prstGeom prst="roundRect">
            <a:avLst>
              <a:gd name="adj" fmla="val 10667"/>
            </a:avLst>
          </a:prstGeom>
          <a:solidFill>
            <a:srgbClr val="2E86C1"/>
          </a:solidFill>
          <a:ln/>
          <a:effectLst>
            <a:outerShdw blurRad="76200" dist="25400" dir="5400000" algn="bl" rotWithShape="0">
              <a:srgbClr val="9AA7B5">
                <a:alpha val="28000"/>
              </a:srgbClr>
            </a:outerShdw>
          </a:effectLst>
        </p:spPr>
      </p:sp>
      <p:sp>
        <p:nvSpPr>
          <p:cNvPr id="11" name="Text 9"/>
          <p:cNvSpPr/>
          <p:nvPr/>
        </p:nvSpPr>
        <p:spPr>
          <a:xfrm>
            <a:off x="5144414" y="1417320"/>
            <a:ext cx="1918411" cy="68580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Future Prediction</a:t>
            </a:r>
            <a:endParaRPr lang="en-US" sz="1100" dirty="0"/>
          </a:p>
        </p:txBody>
      </p:sp>
      <p:sp>
        <p:nvSpPr>
          <p:cNvPr id="12" name="Shape 10"/>
          <p:cNvSpPr/>
          <p:nvPr/>
        </p:nvSpPr>
        <p:spPr>
          <a:xfrm>
            <a:off x="7145122" y="1691640"/>
            <a:ext cx="157734" cy="137160"/>
          </a:xfrm>
          <a:prstGeom prst="rightArrow">
            <a:avLst/>
          </a:prstGeom>
          <a:solidFill>
            <a:srgbClr val="8A93A0"/>
          </a:solidFill>
          <a:ln/>
        </p:spPr>
      </p:sp>
      <p:sp>
        <p:nvSpPr>
          <p:cNvPr id="13" name="Shape 11"/>
          <p:cNvSpPr/>
          <p:nvPr/>
        </p:nvSpPr>
        <p:spPr>
          <a:xfrm>
            <a:off x="7355434" y="1417320"/>
            <a:ext cx="2064715" cy="685800"/>
          </a:xfrm>
          <a:prstGeom prst="roundRect">
            <a:avLst>
              <a:gd name="adj" fmla="val 10667"/>
            </a:avLst>
          </a:prstGeom>
          <a:solidFill>
            <a:srgbClr val="12253B"/>
          </a:solidFill>
          <a:ln/>
          <a:effectLst>
            <a:outerShdw blurRad="76200" dist="25400" dir="5400000" algn="bl" rotWithShape="0">
              <a:srgbClr val="9AA7B5">
                <a:alpha val="28000"/>
              </a:srgbClr>
            </a:outerShdw>
          </a:effectLst>
        </p:spPr>
      </p:sp>
      <p:sp>
        <p:nvSpPr>
          <p:cNvPr id="14" name="Text 12"/>
          <p:cNvSpPr/>
          <p:nvPr/>
        </p:nvSpPr>
        <p:spPr>
          <a:xfrm>
            <a:off x="7428586" y="1417320"/>
            <a:ext cx="1918411" cy="68580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Transport Resilience</a:t>
            </a:r>
            <a:endParaRPr lang="en-US" sz="1100" dirty="0"/>
          </a:p>
        </p:txBody>
      </p:sp>
      <p:sp>
        <p:nvSpPr>
          <p:cNvPr id="15" name="Shape 13"/>
          <p:cNvSpPr/>
          <p:nvPr/>
        </p:nvSpPr>
        <p:spPr>
          <a:xfrm>
            <a:off x="9429293" y="1691640"/>
            <a:ext cx="157734" cy="137160"/>
          </a:xfrm>
          <a:prstGeom prst="rightArrow">
            <a:avLst/>
          </a:prstGeom>
          <a:solidFill>
            <a:srgbClr val="8A93A0"/>
          </a:solidFill>
          <a:ln/>
        </p:spPr>
      </p:sp>
      <p:sp>
        <p:nvSpPr>
          <p:cNvPr id="16" name="Shape 14"/>
          <p:cNvSpPr/>
          <p:nvPr/>
        </p:nvSpPr>
        <p:spPr>
          <a:xfrm>
            <a:off x="9639605" y="1417320"/>
            <a:ext cx="2064715" cy="685800"/>
          </a:xfrm>
          <a:prstGeom prst="roundRect">
            <a:avLst>
              <a:gd name="adj" fmla="val 10667"/>
            </a:avLst>
          </a:prstGeom>
          <a:solidFill>
            <a:srgbClr val="1B2A4A"/>
          </a:solidFill>
          <a:ln/>
          <a:effectLst>
            <a:outerShdw blurRad="76200" dist="25400" dir="5400000" algn="bl" rotWithShape="0">
              <a:srgbClr val="9AA7B5">
                <a:alpha val="28000"/>
              </a:srgbClr>
            </a:outerShdw>
          </a:effectLst>
        </p:spPr>
      </p:sp>
      <p:sp>
        <p:nvSpPr>
          <p:cNvPr id="17" name="Text 15"/>
          <p:cNvSpPr/>
          <p:nvPr/>
        </p:nvSpPr>
        <p:spPr>
          <a:xfrm>
            <a:off x="9712757" y="1417320"/>
            <a:ext cx="1918411" cy="685800"/>
          </a:xfrm>
          <a:prstGeom prst="rect">
            <a:avLst/>
          </a:prstGeom>
          <a:noFill/>
          <a:ln/>
        </p:spPr>
        <p:txBody>
          <a:bodyPr wrap="square" lIns="0" tIns="0" rIns="0" bIns="0" rtlCol="0" anchor="ctr"/>
          <a:lstStyle/>
          <a:p>
            <a:pPr marL="0" indent="0" algn="ctr">
              <a:lnSpc>
                <a:spcPct val="105000"/>
              </a:lnSpc>
              <a:buNone/>
            </a:pPr>
            <a:r>
              <a:rPr lang="en-US" sz="1100" b="1" dirty="0">
                <a:solidFill>
                  <a:srgbClr val="FFFFFF"/>
                </a:solidFill>
                <a:latin typeface="Calibri" pitchFamily="34" charset="0"/>
                <a:ea typeface="Calibri" pitchFamily="34" charset="-122"/>
                <a:cs typeface="Calibri" pitchFamily="34" charset="-120"/>
              </a:rPr>
              <a:t>Decision Support</a:t>
            </a:r>
            <a:endParaRPr lang="en-US" sz="1100" dirty="0"/>
          </a:p>
        </p:txBody>
      </p:sp>
      <p:sp>
        <p:nvSpPr>
          <p:cNvPr id="18" name="Shape 16"/>
          <p:cNvSpPr/>
          <p:nvPr/>
        </p:nvSpPr>
        <p:spPr>
          <a:xfrm>
            <a:off x="502920" y="2560320"/>
            <a:ext cx="384048" cy="384048"/>
          </a:xfrm>
          <a:prstGeom prst="ellipse">
            <a:avLst/>
          </a:prstGeom>
          <a:solidFill>
            <a:srgbClr val="EAF1FA"/>
          </a:solidFill>
          <a:ln/>
        </p:spPr>
      </p:sp>
      <p:pic>
        <p:nvPicPr>
          <p:cNvPr id="19" name="Image 0" descr="/home/claude/tr_pptx/icons/chart_blue.png"/>
          <p:cNvPicPr>
            <a:picLocks noChangeAspect="1"/>
          </p:cNvPicPr>
          <p:nvPr/>
        </p:nvPicPr>
        <p:blipFill>
          <a:blip r:embed="rId3"/>
          <a:stretch>
            <a:fillRect/>
          </a:stretch>
        </p:blipFill>
        <p:spPr>
          <a:xfrm>
            <a:off x="576072" y="2633472"/>
            <a:ext cx="237744" cy="237744"/>
          </a:xfrm>
          <a:prstGeom prst="rect">
            <a:avLst/>
          </a:prstGeom>
        </p:spPr>
      </p:pic>
      <p:sp>
        <p:nvSpPr>
          <p:cNvPr id="20" name="Text 17"/>
          <p:cNvSpPr/>
          <p:nvPr/>
        </p:nvSpPr>
        <p:spPr>
          <a:xfrm>
            <a:off x="1005840" y="2560320"/>
            <a:ext cx="3017520" cy="38404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Research Impact</a:t>
            </a:r>
            <a:endParaRPr lang="en-US" sz="1350" dirty="0"/>
          </a:p>
        </p:txBody>
      </p:sp>
      <p:sp>
        <p:nvSpPr>
          <p:cNvPr id="21" name="Text 18"/>
          <p:cNvSpPr/>
          <p:nvPr/>
        </p:nvSpPr>
        <p:spPr>
          <a:xfrm>
            <a:off x="502920" y="3063240"/>
            <a:ext cx="3520440" cy="91440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150" dirty="0">
                <a:solidFill>
                  <a:srgbClr val="5B6675"/>
                </a:solidFill>
                <a:latin typeface="Calibri" pitchFamily="34" charset="0"/>
                <a:ea typeface="Calibri" pitchFamily="34" charset="-122"/>
                <a:cs typeface="Calibri" pitchFamily="34" charset="-120"/>
              </a:rPr>
              <a:t>Flood-resilient transport planning</a:t>
            </a:r>
            <a:endParaRPr lang="en-US" sz="1150" dirty="0"/>
          </a:p>
          <a:p>
            <a:pPr marL="177800" indent="-177800">
              <a:lnSpc>
                <a:spcPct val="115000"/>
              </a:lnSpc>
              <a:spcAft>
                <a:spcPts val="600"/>
              </a:spcAft>
              <a:buSzPct val="100000"/>
              <a:buChar char="•"/>
            </a:pPr>
            <a:r>
              <a:rPr lang="en-US" sz="1150" dirty="0">
                <a:solidFill>
                  <a:srgbClr val="5B6675"/>
                </a:solidFill>
                <a:latin typeface="Calibri" pitchFamily="34" charset="0"/>
                <a:ea typeface="Calibri" pitchFamily="34" charset="-122"/>
                <a:cs typeface="Calibri" pitchFamily="34" charset="-120"/>
              </a:rPr>
              <a:t>Evidence base for infrastructure investment</a:t>
            </a:r>
            <a:endParaRPr lang="en-US" sz="1150" dirty="0"/>
          </a:p>
        </p:txBody>
      </p:sp>
      <p:sp>
        <p:nvSpPr>
          <p:cNvPr id="22" name="Shape 19"/>
          <p:cNvSpPr/>
          <p:nvPr/>
        </p:nvSpPr>
        <p:spPr>
          <a:xfrm>
            <a:off x="4343400" y="2560320"/>
            <a:ext cx="384048" cy="384048"/>
          </a:xfrm>
          <a:prstGeom prst="ellipse">
            <a:avLst/>
          </a:prstGeom>
          <a:solidFill>
            <a:srgbClr val="EAF1FA"/>
          </a:solidFill>
          <a:ln/>
        </p:spPr>
      </p:sp>
      <p:pic>
        <p:nvPicPr>
          <p:cNvPr id="23" name="Image 1" descr="/home/claude/tr_pptx/icons/book_white.png"/>
          <p:cNvPicPr>
            <a:picLocks noChangeAspect="1"/>
          </p:cNvPicPr>
          <p:nvPr/>
        </p:nvPicPr>
        <p:blipFill>
          <a:blip r:embed="rId4"/>
          <a:stretch>
            <a:fillRect/>
          </a:stretch>
        </p:blipFill>
        <p:spPr>
          <a:xfrm>
            <a:off x="4416552" y="2633472"/>
            <a:ext cx="237744" cy="237744"/>
          </a:xfrm>
          <a:prstGeom prst="rect">
            <a:avLst/>
          </a:prstGeom>
        </p:spPr>
      </p:pic>
      <p:sp>
        <p:nvSpPr>
          <p:cNvPr id="24" name="Text 20"/>
          <p:cNvSpPr/>
          <p:nvPr/>
        </p:nvSpPr>
        <p:spPr>
          <a:xfrm>
            <a:off x="4846320" y="2560320"/>
            <a:ext cx="3017520" cy="38404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Potential Publications</a:t>
            </a:r>
            <a:endParaRPr lang="en-US" sz="1350" dirty="0"/>
          </a:p>
        </p:txBody>
      </p:sp>
      <p:sp>
        <p:nvSpPr>
          <p:cNvPr id="25" name="Text 21"/>
          <p:cNvSpPr/>
          <p:nvPr/>
        </p:nvSpPr>
        <p:spPr>
          <a:xfrm>
            <a:off x="4343400" y="3063240"/>
            <a:ext cx="3520440" cy="91440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150" dirty="0">
                <a:solidFill>
                  <a:srgbClr val="5B6675"/>
                </a:solidFill>
                <a:latin typeface="Calibri" pitchFamily="34" charset="0"/>
                <a:ea typeface="Calibri" pitchFamily="34" charset="-122"/>
                <a:cs typeface="Calibri" pitchFamily="34" charset="-120"/>
              </a:rPr>
              <a:t>IEEE / Elsevier transport journals</a:t>
            </a:r>
            <a:endParaRPr lang="en-US" sz="1150" dirty="0"/>
          </a:p>
          <a:p>
            <a:pPr marL="177800" indent="-177800">
              <a:lnSpc>
                <a:spcPct val="115000"/>
              </a:lnSpc>
              <a:spcAft>
                <a:spcPts val="600"/>
              </a:spcAft>
              <a:buSzPct val="100000"/>
              <a:buChar char="•"/>
            </a:pPr>
            <a:r>
              <a:rPr lang="en-US" sz="1150" dirty="0">
                <a:solidFill>
                  <a:srgbClr val="5B6675"/>
                </a:solidFill>
                <a:latin typeface="Calibri" pitchFamily="34" charset="0"/>
                <a:ea typeface="Calibri" pitchFamily="34" charset="-122"/>
                <a:cs typeface="Calibri" pitchFamily="34" charset="-120"/>
              </a:rPr>
              <a:t>GIS and disaster-risk conferences</a:t>
            </a:r>
            <a:endParaRPr lang="en-US" sz="1150" dirty="0"/>
          </a:p>
        </p:txBody>
      </p:sp>
      <p:sp>
        <p:nvSpPr>
          <p:cNvPr id="26" name="Shape 22"/>
          <p:cNvSpPr/>
          <p:nvPr/>
        </p:nvSpPr>
        <p:spPr>
          <a:xfrm>
            <a:off x="8183880" y="2560320"/>
            <a:ext cx="384048" cy="384048"/>
          </a:xfrm>
          <a:prstGeom prst="ellipse">
            <a:avLst/>
          </a:prstGeom>
          <a:solidFill>
            <a:srgbClr val="EAF1FA"/>
          </a:solidFill>
          <a:ln/>
        </p:spPr>
      </p:sp>
      <p:pic>
        <p:nvPicPr>
          <p:cNvPr id="27" name="Image 2" descr="/home/claude/tr_pptx/icons/brain_navy.png"/>
          <p:cNvPicPr>
            <a:picLocks noChangeAspect="1"/>
          </p:cNvPicPr>
          <p:nvPr/>
        </p:nvPicPr>
        <p:blipFill>
          <a:blip r:embed="rId5"/>
          <a:stretch>
            <a:fillRect/>
          </a:stretch>
        </p:blipFill>
        <p:spPr>
          <a:xfrm>
            <a:off x="8257032" y="2633472"/>
            <a:ext cx="237744" cy="237744"/>
          </a:xfrm>
          <a:prstGeom prst="rect">
            <a:avLst/>
          </a:prstGeom>
        </p:spPr>
      </p:pic>
      <p:sp>
        <p:nvSpPr>
          <p:cNvPr id="28" name="Text 23"/>
          <p:cNvSpPr/>
          <p:nvPr/>
        </p:nvSpPr>
        <p:spPr>
          <a:xfrm>
            <a:off x="8686800" y="2560320"/>
            <a:ext cx="3017520" cy="384048"/>
          </a:xfrm>
          <a:prstGeom prst="rect">
            <a:avLst/>
          </a:prstGeom>
          <a:noFill/>
          <a:ln/>
        </p:spPr>
        <p:txBody>
          <a:bodyPr wrap="square" lIns="0" tIns="0" rIns="0" bIns="0" rtlCol="0" anchor="ctr"/>
          <a:lstStyle/>
          <a:p>
            <a:pPr marL="0" indent="0">
              <a:buNone/>
            </a:pPr>
            <a:r>
              <a:rPr lang="en-US" sz="1350" b="1" dirty="0">
                <a:solidFill>
                  <a:srgbClr val="1B2A4A"/>
                </a:solidFill>
                <a:latin typeface="Cambria" pitchFamily="34" charset="0"/>
                <a:ea typeface="Cambria" pitchFamily="34" charset="-122"/>
                <a:cs typeface="Cambria" pitchFamily="34" charset="-120"/>
              </a:rPr>
              <a:t>Future Extensions</a:t>
            </a:r>
            <a:endParaRPr lang="en-US" sz="1350" dirty="0"/>
          </a:p>
        </p:txBody>
      </p:sp>
      <p:sp>
        <p:nvSpPr>
          <p:cNvPr id="29" name="Text 24"/>
          <p:cNvSpPr/>
          <p:nvPr/>
        </p:nvSpPr>
        <p:spPr>
          <a:xfrm>
            <a:off x="8183880" y="3063240"/>
            <a:ext cx="3520440" cy="91440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150" dirty="0">
                <a:solidFill>
                  <a:srgbClr val="5B6675"/>
                </a:solidFill>
                <a:latin typeface="Calibri" pitchFamily="34" charset="0"/>
                <a:ea typeface="Calibri" pitchFamily="34" charset="-122"/>
                <a:cs typeface="Calibri" pitchFamily="34" charset="-120"/>
              </a:rPr>
              <a:t>Real-time flood monitoring integration</a:t>
            </a:r>
            <a:endParaRPr lang="en-US" sz="1150" dirty="0"/>
          </a:p>
          <a:p>
            <a:pPr marL="177800" indent="-177800">
              <a:lnSpc>
                <a:spcPct val="115000"/>
              </a:lnSpc>
              <a:spcAft>
                <a:spcPts val="600"/>
              </a:spcAft>
              <a:buSzPct val="100000"/>
              <a:buChar char="•"/>
            </a:pPr>
            <a:r>
              <a:rPr lang="en-US" sz="1150" dirty="0">
                <a:solidFill>
                  <a:srgbClr val="5B6675"/>
                </a:solidFill>
                <a:latin typeface="Calibri" pitchFamily="34" charset="0"/>
                <a:ea typeface="Calibri" pitchFamily="34" charset="-122"/>
                <a:cs typeface="Calibri" pitchFamily="34" charset="-120"/>
              </a:rPr>
              <a:t>Multi-hazard resilience modelling</a:t>
            </a:r>
            <a:endParaRPr lang="en-US" sz="1150" dirty="0"/>
          </a:p>
        </p:txBody>
      </p:sp>
      <p:sp>
        <p:nvSpPr>
          <p:cNvPr id="30" name="Shape 25"/>
          <p:cNvSpPr/>
          <p:nvPr/>
        </p:nvSpPr>
        <p:spPr>
          <a:xfrm>
            <a:off x="502920" y="5989320"/>
            <a:ext cx="11201400" cy="548640"/>
          </a:xfrm>
          <a:prstGeom prst="roundRect">
            <a:avLst>
              <a:gd name="adj" fmla="val 15000"/>
            </a:avLst>
          </a:prstGeom>
          <a:solidFill>
            <a:srgbClr val="F4F8FC"/>
          </a:solidFill>
          <a:ln/>
        </p:spPr>
      </p:sp>
      <p:sp>
        <p:nvSpPr>
          <p:cNvPr id="31" name="Text 26"/>
          <p:cNvSpPr/>
          <p:nvPr/>
        </p:nvSpPr>
        <p:spPr>
          <a:xfrm>
            <a:off x="502920" y="5989320"/>
            <a:ext cx="11201400" cy="54864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Thank You  —  Questions?</a:t>
            </a:r>
            <a:endParaRPr lang="en-US" sz="1700" dirty="0"/>
          </a:p>
        </p:txBody>
      </p:sp>
      <p:sp>
        <p:nvSpPr>
          <p:cNvPr id="32" name="Slide Number Placeholder 0"/>
          <p:cNvSpPr>
            <a:spLocks noGrp="1"/>
          </p:cNvSpPr>
          <p:nvPr>
            <p:ph type="sldNum" sz="quarter" idx="4294967295"/>
          </p:nvPr>
        </p:nvSpPr>
        <p:spPr>
          <a:xfrm>
            <a:off x="11643055" y="6473952"/>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93A0"/>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TotalTime>
  <Words>1974</Words>
  <Application>Microsoft Office PowerPoint</Application>
  <PresentationFormat>Widescreen</PresentationFormat>
  <Paragraphs>233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Research Proposal Presentation</dc:title>
  <dc:subject>PptxGenJS Presentation</dc:subject>
  <dc:creator>PhD Candidate</dc:creator>
  <cp:lastModifiedBy>1804104 - Sifat Islam Pranto</cp:lastModifiedBy>
  <cp:revision>5</cp:revision>
  <dcterms:created xsi:type="dcterms:W3CDTF">2026-07-13T22:23:54Z</dcterms:created>
  <dcterms:modified xsi:type="dcterms:W3CDTF">2026-09-04T18:18:23Z</dcterms:modified>
</cp:coreProperties>
</file>